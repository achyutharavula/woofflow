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62" r:id="rId2"/>
    <p:sldId id="1315" r:id="rId3"/>
    <p:sldId id="1314" r:id="rId4"/>
    <p:sldId id="1316" r:id="rId5"/>
    <p:sldId id="1317" r:id="rId6"/>
    <p:sldId id="1318" r:id="rId7"/>
    <p:sldId id="1326" r:id="rId8"/>
    <p:sldId id="1319" r:id="rId9"/>
    <p:sldId id="1320" r:id="rId10"/>
    <p:sldId id="1328" r:id="rId11"/>
    <p:sldId id="1329" r:id="rId12"/>
    <p:sldId id="1330" r:id="rId13"/>
    <p:sldId id="1337" r:id="rId14"/>
    <p:sldId id="1331" r:id="rId15"/>
    <p:sldId id="1332" r:id="rId16"/>
    <p:sldId id="1334" r:id="rId17"/>
    <p:sldId id="1333" r:id="rId18"/>
    <p:sldId id="1335" r:id="rId19"/>
    <p:sldId id="1338" r:id="rId20"/>
    <p:sldId id="1336" r:id="rId21"/>
    <p:sldId id="1313" r:id="rId22"/>
  </p:sldIdLst>
  <p:sldSz cx="6858000" cy="9144000" type="letter"/>
  <p:notesSz cx="6858000" cy="9144000"/>
  <p:defaultTex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E39"/>
    <a:srgbClr val="E27422"/>
    <a:srgbClr val="14DE14"/>
    <a:srgbClr val="EC8B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2035" y="58"/>
      </p:cViewPr>
      <p:guideLst/>
    </p:cSldViewPr>
  </p:slideViewPr>
  <p:notesTextViewPr>
    <p:cViewPr>
      <p:scale>
        <a:sx n="1" d="1"/>
        <a:sy n="1" d="1"/>
      </p:scale>
      <p:origin x="0" y="0"/>
    </p:cViewPr>
  </p:notesTextViewPr>
  <p:sorterViewPr>
    <p:cViewPr>
      <p:scale>
        <a:sx n="100" d="100"/>
        <a:sy n="100" d="100"/>
      </p:scale>
      <p:origin x="0" y="-19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28BE4-4639-463D-8424-1186A6D275F5}" type="datetimeFigureOut">
              <a:rPr lang="en-US" smtClean="0"/>
              <a:t>1/16/2026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7588EA-13C4-4938-B235-B1743E88C14E}" type="slidenum">
              <a:rPr lang="en-US" smtClean="0"/>
              <a:t>‹#›</a:t>
            </a:fld>
            <a:endParaRPr lang="en-US"/>
          </a:p>
        </p:txBody>
      </p:sp>
    </p:spTree>
    <p:extLst>
      <p:ext uri="{BB962C8B-B14F-4D97-AF65-F5344CB8AC3E}">
        <p14:creationId xmlns:p14="http://schemas.microsoft.com/office/powerpoint/2010/main" val="4015780198"/>
      </p:ext>
    </p:extLst>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7588EA-13C4-4938-B235-B1743E88C14E}" type="slidenum">
              <a:rPr lang="en-US" smtClean="0"/>
              <a:t>15</a:t>
            </a:fld>
            <a:endParaRPr lang="en-US"/>
          </a:p>
        </p:txBody>
      </p:sp>
    </p:spTree>
    <p:extLst>
      <p:ext uri="{BB962C8B-B14F-4D97-AF65-F5344CB8AC3E}">
        <p14:creationId xmlns:p14="http://schemas.microsoft.com/office/powerpoint/2010/main" val="616549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0000" y="5005973"/>
            <a:ext cx="6597999" cy="1026104"/>
          </a:xfrm>
        </p:spPr>
        <p:txBody>
          <a:bodyPr anchor="b">
            <a:normAutofit/>
          </a:bodyPr>
          <a:lstStyle>
            <a:lvl1pPr algn="l">
              <a:defRPr sz="3200" b="0"/>
            </a:lvl1pPr>
          </a:lstStyle>
          <a:p>
            <a:r>
              <a:rPr lang="en-US" dirty="0"/>
              <a:t>Click to edit Master title style</a:t>
            </a:r>
          </a:p>
        </p:txBody>
      </p:sp>
      <p:sp>
        <p:nvSpPr>
          <p:cNvPr id="5" name="Footer Placeholder 4"/>
          <p:cNvSpPr>
            <a:spLocks noGrp="1"/>
          </p:cNvSpPr>
          <p:nvPr>
            <p:ph type="ftr" sz="quarter" idx="11"/>
          </p:nvPr>
        </p:nvSpPr>
        <p:spPr>
          <a:xfrm>
            <a:off x="255414" y="8452273"/>
            <a:ext cx="2784209" cy="486833"/>
          </a:xfrm>
        </p:spPr>
        <p:txBody>
          <a:bodyPr/>
          <a:lstStyle>
            <a:lvl1pPr>
              <a:defRPr sz="1000"/>
            </a:lvl1pPr>
          </a:lstStyle>
          <a:p>
            <a:r>
              <a:rPr lang="sv-SE" dirty="0"/>
              <a:t>© 2025, Anna Sidorova, UNT. BCIS5140 - Project Report Boilerplate</a:t>
            </a:r>
            <a:endParaRPr lang="en-US" dirty="0"/>
          </a:p>
        </p:txBody>
      </p:sp>
      <p:sp>
        <p:nvSpPr>
          <p:cNvPr id="10" name="Subtitle 4"/>
          <p:cNvSpPr txBox="1">
            <a:spLocks/>
          </p:cNvSpPr>
          <p:nvPr userDrawn="1"/>
        </p:nvSpPr>
        <p:spPr>
          <a:xfrm>
            <a:off x="255414" y="1781909"/>
            <a:ext cx="2299380" cy="803868"/>
          </a:xfrm>
          <a:prstGeom prst="rect">
            <a:avLst/>
          </a:prstGeom>
        </p:spPr>
        <p:txBody>
          <a:bodyPr vert="horz" lIns="21699" tIns="10850" rIns="21699" bIns="1085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64" dirty="0">
                <a:solidFill>
                  <a:schemeClr val="bg1"/>
                </a:solidFill>
              </a:rPr>
              <a:t>Dr. Anna Sidorova</a:t>
            </a:r>
          </a:p>
        </p:txBody>
      </p:sp>
    </p:spTree>
    <p:extLst>
      <p:ext uri="{BB962C8B-B14F-4D97-AF65-F5344CB8AC3E}">
        <p14:creationId xmlns:p14="http://schemas.microsoft.com/office/powerpoint/2010/main" val="4002554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4126" y="165095"/>
            <a:ext cx="6329748" cy="416134"/>
          </a:xfrm>
        </p:spPr>
        <p:txBody>
          <a:bodyPr vert="horz" lIns="91440" tIns="45720" rIns="91440" bIns="45720" rtlCol="0" anchor="ctr">
            <a:norm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255415" y="800100"/>
            <a:ext cx="6333827" cy="717094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255415" y="8475134"/>
            <a:ext cx="557213" cy="486833"/>
          </a:xfrm>
          <a:prstGeom prst="rect">
            <a:avLst/>
          </a:prstGeom>
        </p:spPr>
        <p:txBody>
          <a:bodyPr/>
          <a:lstStyle/>
          <a:p>
            <a:fld id="{A305FB81-AE68-40B5-90CB-6FD7A6D1BEF4}" type="datetime1">
              <a:rPr lang="en-US" smtClean="0"/>
              <a:t>1/16/2026</a:t>
            </a:fld>
            <a:endParaRPr lang="en-US"/>
          </a:p>
        </p:txBody>
      </p:sp>
      <p:sp>
        <p:nvSpPr>
          <p:cNvPr id="5" name="Footer Placeholder 4"/>
          <p:cNvSpPr>
            <a:spLocks noGrp="1"/>
          </p:cNvSpPr>
          <p:nvPr>
            <p:ph type="ftr" sz="quarter" idx="11"/>
          </p:nvPr>
        </p:nvSpPr>
        <p:spPr/>
        <p:txBody>
          <a:bodyPr/>
          <a:lstStyle/>
          <a:p>
            <a:r>
              <a:rPr lang="sv-SE"/>
              <a:t>© 2025, Anna Sidorova, UNT. BCIS5140 - Project Report Boilerplate</a:t>
            </a:r>
            <a:endParaRPr lang="en-US" dirty="0"/>
          </a:p>
        </p:txBody>
      </p:sp>
      <p:sp>
        <p:nvSpPr>
          <p:cNvPr id="6" name="Slide Number Placeholder 5"/>
          <p:cNvSpPr>
            <a:spLocks noGrp="1"/>
          </p:cNvSpPr>
          <p:nvPr>
            <p:ph type="sldNum" sz="quarter" idx="12"/>
          </p:nvPr>
        </p:nvSpPr>
        <p:spPr>
          <a:xfrm>
            <a:off x="6375534" y="8475136"/>
            <a:ext cx="265284" cy="486833"/>
          </a:xfrm>
          <a:prstGeom prst="rect">
            <a:avLst/>
          </a:prstGeom>
        </p:spPr>
        <p:txBody>
          <a:bodyPr/>
          <a:lstStyle/>
          <a:p>
            <a:fld id="{CD8DB1C3-41AE-4558-B8AC-7C3996A412DF}" type="slidenum">
              <a:rPr lang="en-US" smtClean="0"/>
              <a:t>‹#›</a:t>
            </a:fld>
            <a:endParaRPr lang="en-US"/>
          </a:p>
        </p:txBody>
      </p:sp>
    </p:spTree>
    <p:extLst>
      <p:ext uri="{BB962C8B-B14F-4D97-AF65-F5344CB8AC3E}">
        <p14:creationId xmlns:p14="http://schemas.microsoft.com/office/powerpoint/2010/main" val="2436259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4126" y="165095"/>
            <a:ext cx="6329748" cy="416134"/>
          </a:xfrm>
        </p:spPr>
        <p:txBody>
          <a:bodyPr vert="horz" lIns="91440" tIns="45720" rIns="91440" bIns="45720" rtlCol="0" anchor="ctr">
            <a:norm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255415" y="800100"/>
            <a:ext cx="6333827" cy="34937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255415" y="8475134"/>
            <a:ext cx="557213" cy="486833"/>
          </a:xfrm>
          <a:prstGeom prst="rect">
            <a:avLst/>
          </a:prstGeom>
        </p:spPr>
        <p:txBody>
          <a:bodyPr/>
          <a:lstStyle/>
          <a:p>
            <a:fld id="{A305FB81-AE68-40B5-90CB-6FD7A6D1BEF4}" type="datetime1">
              <a:rPr lang="en-US" smtClean="0"/>
              <a:t>1/16/2026</a:t>
            </a:fld>
            <a:endParaRPr lang="en-US"/>
          </a:p>
        </p:txBody>
      </p:sp>
      <p:sp>
        <p:nvSpPr>
          <p:cNvPr id="5" name="Footer Placeholder 4"/>
          <p:cNvSpPr>
            <a:spLocks noGrp="1"/>
          </p:cNvSpPr>
          <p:nvPr>
            <p:ph type="ftr" sz="quarter" idx="11"/>
          </p:nvPr>
        </p:nvSpPr>
        <p:spPr/>
        <p:txBody>
          <a:bodyPr/>
          <a:lstStyle/>
          <a:p>
            <a:r>
              <a:rPr lang="sv-SE"/>
              <a:t>© 2025, Anna Sidorova, UNT. BCIS5140 - Project Report Boilerplate</a:t>
            </a:r>
            <a:endParaRPr lang="en-US" dirty="0"/>
          </a:p>
        </p:txBody>
      </p:sp>
      <p:sp>
        <p:nvSpPr>
          <p:cNvPr id="6" name="Slide Number Placeholder 5"/>
          <p:cNvSpPr>
            <a:spLocks noGrp="1"/>
          </p:cNvSpPr>
          <p:nvPr>
            <p:ph type="sldNum" sz="quarter" idx="12"/>
          </p:nvPr>
        </p:nvSpPr>
        <p:spPr>
          <a:xfrm>
            <a:off x="6375534" y="8475136"/>
            <a:ext cx="265284" cy="486833"/>
          </a:xfrm>
          <a:prstGeom prst="rect">
            <a:avLst/>
          </a:prstGeom>
        </p:spPr>
        <p:txBody>
          <a:bodyPr/>
          <a:lstStyle/>
          <a:p>
            <a:fld id="{CD8DB1C3-41AE-4558-B8AC-7C3996A412DF}" type="slidenum">
              <a:rPr lang="en-US" smtClean="0"/>
              <a:t>‹#›</a:t>
            </a:fld>
            <a:endParaRPr lang="en-US"/>
          </a:p>
        </p:txBody>
      </p:sp>
      <p:sp>
        <p:nvSpPr>
          <p:cNvPr id="7" name="Content Placeholder 2">
            <a:extLst>
              <a:ext uri="{FF2B5EF4-FFF2-40B4-BE49-F238E27FC236}">
                <a16:creationId xmlns:a16="http://schemas.microsoft.com/office/drawing/2014/main" id="{FCA49E84-4535-B8B1-088D-7C8331060D9E}"/>
              </a:ext>
            </a:extLst>
          </p:cNvPr>
          <p:cNvSpPr>
            <a:spLocks noGrp="1"/>
          </p:cNvSpPr>
          <p:nvPr>
            <p:ph idx="13"/>
          </p:nvPr>
        </p:nvSpPr>
        <p:spPr>
          <a:xfrm>
            <a:off x="255415" y="4476750"/>
            <a:ext cx="6333827" cy="34937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7244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4126" y="165095"/>
            <a:ext cx="6329748" cy="416134"/>
          </a:xfrm>
        </p:spPr>
        <p:txBody>
          <a:bodyPr vert="horz" lIns="91440" tIns="45720" rIns="91440" bIns="45720" rtlCol="0" anchor="ctr">
            <a:norm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255415" y="800100"/>
            <a:ext cx="6333827" cy="34937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255415" y="8475134"/>
            <a:ext cx="557213" cy="486833"/>
          </a:xfrm>
          <a:prstGeom prst="rect">
            <a:avLst/>
          </a:prstGeom>
        </p:spPr>
        <p:txBody>
          <a:bodyPr/>
          <a:lstStyle/>
          <a:p>
            <a:fld id="{A305FB81-AE68-40B5-90CB-6FD7A6D1BEF4}" type="datetime1">
              <a:rPr lang="en-US" smtClean="0"/>
              <a:t>1/16/2026</a:t>
            </a:fld>
            <a:endParaRPr lang="en-US"/>
          </a:p>
        </p:txBody>
      </p:sp>
      <p:sp>
        <p:nvSpPr>
          <p:cNvPr id="5" name="Footer Placeholder 4"/>
          <p:cNvSpPr>
            <a:spLocks noGrp="1"/>
          </p:cNvSpPr>
          <p:nvPr>
            <p:ph type="ftr" sz="quarter" idx="11"/>
          </p:nvPr>
        </p:nvSpPr>
        <p:spPr/>
        <p:txBody>
          <a:bodyPr/>
          <a:lstStyle/>
          <a:p>
            <a:r>
              <a:rPr lang="sv-SE"/>
              <a:t>© 2025, Anna Sidorova, UNT. BCIS5140 - Project Report Boilerplate</a:t>
            </a:r>
            <a:endParaRPr lang="en-US" dirty="0"/>
          </a:p>
        </p:txBody>
      </p:sp>
      <p:sp>
        <p:nvSpPr>
          <p:cNvPr id="6" name="Slide Number Placeholder 5"/>
          <p:cNvSpPr>
            <a:spLocks noGrp="1"/>
          </p:cNvSpPr>
          <p:nvPr>
            <p:ph type="sldNum" sz="quarter" idx="12"/>
          </p:nvPr>
        </p:nvSpPr>
        <p:spPr>
          <a:xfrm>
            <a:off x="6375534" y="8475136"/>
            <a:ext cx="265284" cy="486833"/>
          </a:xfrm>
          <a:prstGeom prst="rect">
            <a:avLst/>
          </a:prstGeom>
        </p:spPr>
        <p:txBody>
          <a:bodyPr/>
          <a:lstStyle/>
          <a:p>
            <a:fld id="{CD8DB1C3-41AE-4558-B8AC-7C3996A412DF}" type="slidenum">
              <a:rPr lang="en-US" smtClean="0"/>
              <a:t>‹#›</a:t>
            </a:fld>
            <a:endParaRPr lang="en-US"/>
          </a:p>
        </p:txBody>
      </p:sp>
      <p:sp>
        <p:nvSpPr>
          <p:cNvPr id="7" name="Content Placeholder 2">
            <a:extLst>
              <a:ext uri="{FF2B5EF4-FFF2-40B4-BE49-F238E27FC236}">
                <a16:creationId xmlns:a16="http://schemas.microsoft.com/office/drawing/2014/main" id="{FCA49E84-4535-B8B1-088D-7C8331060D9E}"/>
              </a:ext>
            </a:extLst>
          </p:cNvPr>
          <p:cNvSpPr>
            <a:spLocks noGrp="1"/>
          </p:cNvSpPr>
          <p:nvPr>
            <p:ph idx="13"/>
          </p:nvPr>
        </p:nvSpPr>
        <p:spPr>
          <a:xfrm>
            <a:off x="255415" y="4476750"/>
            <a:ext cx="3173585" cy="34937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FC24C183-E743-82E8-A61F-7F28DFECA01D}"/>
              </a:ext>
            </a:extLst>
          </p:cNvPr>
          <p:cNvSpPr>
            <a:spLocks noGrp="1"/>
          </p:cNvSpPr>
          <p:nvPr>
            <p:ph idx="14"/>
          </p:nvPr>
        </p:nvSpPr>
        <p:spPr>
          <a:xfrm>
            <a:off x="3598537" y="4476750"/>
            <a:ext cx="2990705" cy="34937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3112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8890" y="165095"/>
            <a:ext cx="6381326" cy="370416"/>
          </a:xfrm>
        </p:spPr>
        <p:txBody>
          <a:bodyPr vert="horz" lIns="91440" tIns="45720" rIns="91440" bIns="45720" rtlCol="0" anchor="ctr">
            <a:normAutofit/>
          </a:bodyPr>
          <a:lstStyle>
            <a:lvl1pPr>
              <a:defRPr lang="en-US" dirty="0"/>
            </a:lvl1pPr>
          </a:lstStyle>
          <a:p>
            <a:pPr lvl="0"/>
            <a:r>
              <a:rPr lang="en-US" dirty="0"/>
              <a:t>Click to edit Master title style</a:t>
            </a:r>
          </a:p>
        </p:txBody>
      </p:sp>
      <p:sp>
        <p:nvSpPr>
          <p:cNvPr id="3" name="Content Placeholder 2"/>
          <p:cNvSpPr>
            <a:spLocks noGrp="1"/>
          </p:cNvSpPr>
          <p:nvPr>
            <p:ph sz="half" idx="1"/>
          </p:nvPr>
        </p:nvSpPr>
        <p:spPr>
          <a:xfrm>
            <a:off x="255414" y="1081276"/>
            <a:ext cx="3134139" cy="68819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3283" y="1082072"/>
            <a:ext cx="3137535" cy="68811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55415" y="8475134"/>
            <a:ext cx="557213" cy="486833"/>
          </a:xfrm>
          <a:prstGeom prst="rect">
            <a:avLst/>
          </a:prstGeom>
        </p:spPr>
        <p:txBody>
          <a:bodyPr/>
          <a:lstStyle/>
          <a:p>
            <a:fld id="{EEB4E49E-8B3B-4DE9-A948-A03B75F4E63E}" type="datetime1">
              <a:rPr lang="en-US" smtClean="0"/>
              <a:t>1/16/2026</a:t>
            </a:fld>
            <a:endParaRPr lang="en-US"/>
          </a:p>
        </p:txBody>
      </p:sp>
      <p:sp>
        <p:nvSpPr>
          <p:cNvPr id="6" name="Footer Placeholder 5"/>
          <p:cNvSpPr>
            <a:spLocks noGrp="1"/>
          </p:cNvSpPr>
          <p:nvPr>
            <p:ph type="ftr" sz="quarter" idx="11"/>
          </p:nvPr>
        </p:nvSpPr>
        <p:spPr/>
        <p:txBody>
          <a:bodyPr/>
          <a:lstStyle/>
          <a:p>
            <a:r>
              <a:rPr lang="sv-SE"/>
              <a:t>© 2025, Anna Sidorova, UNT. BCIS5140 - Project Report Boilerplate</a:t>
            </a:r>
            <a:endParaRPr lang="en-US" dirty="0"/>
          </a:p>
        </p:txBody>
      </p:sp>
      <p:sp>
        <p:nvSpPr>
          <p:cNvPr id="7" name="Slide Number Placeholder 6"/>
          <p:cNvSpPr>
            <a:spLocks noGrp="1"/>
          </p:cNvSpPr>
          <p:nvPr>
            <p:ph type="sldNum" sz="quarter" idx="12"/>
          </p:nvPr>
        </p:nvSpPr>
        <p:spPr>
          <a:xfrm>
            <a:off x="6375534" y="8475136"/>
            <a:ext cx="265284" cy="486833"/>
          </a:xfrm>
          <a:prstGeom prst="rect">
            <a:avLst/>
          </a:prstGeom>
        </p:spPr>
        <p:txBody>
          <a:bodyPr/>
          <a:lstStyle/>
          <a:p>
            <a:fld id="{CD8DB1C3-41AE-4558-B8AC-7C3996A412DF}" type="slidenum">
              <a:rPr lang="en-US" smtClean="0"/>
              <a:t>‹#›</a:t>
            </a:fld>
            <a:endParaRPr lang="en-US"/>
          </a:p>
        </p:txBody>
      </p:sp>
      <p:sp>
        <p:nvSpPr>
          <p:cNvPr id="8" name="Title 1">
            <a:extLst>
              <a:ext uri="{FF2B5EF4-FFF2-40B4-BE49-F238E27FC236}">
                <a16:creationId xmlns:a16="http://schemas.microsoft.com/office/drawing/2014/main" id="{24AB93A1-77C0-0684-2C78-4619D5EC991D}"/>
              </a:ext>
            </a:extLst>
          </p:cNvPr>
          <p:cNvSpPr txBox="1">
            <a:spLocks/>
          </p:cNvSpPr>
          <p:nvPr userDrawn="1"/>
        </p:nvSpPr>
        <p:spPr>
          <a:xfrm>
            <a:off x="198890" y="693922"/>
            <a:ext cx="3038263" cy="370416"/>
          </a:xfrm>
          <a:prstGeom prst="rect">
            <a:avLst/>
          </a:prstGeom>
        </p:spPr>
        <p:txBody>
          <a:bodyPr vert="horz" lIns="91440" tIns="45720" rIns="91440" bIns="45720" rtlCol="0" anchor="ctr">
            <a:normAutofit/>
          </a:bodyPr>
          <a:lstStyle>
            <a:lvl1pPr algn="l" defTabSz="217004" rtl="0" eaLnBrk="1" latinLnBrk="0" hangingPunct="1">
              <a:lnSpc>
                <a:spcPct val="90000"/>
              </a:lnSpc>
              <a:spcBef>
                <a:spcPct val="0"/>
              </a:spcBef>
              <a:buNone/>
              <a:defRPr lang="en-US" sz="1800" b="0" kern="1200" dirty="0">
                <a:solidFill>
                  <a:srgbClr val="00853E"/>
                </a:solidFill>
                <a:latin typeface="+mj-lt"/>
                <a:ea typeface="+mj-ea"/>
                <a:cs typeface="+mj-cs"/>
              </a:defRPr>
            </a:lvl1pPr>
          </a:lstStyle>
          <a:p>
            <a:r>
              <a:rPr lang="en-US" sz="1600"/>
              <a:t>Click to edit Master title style</a:t>
            </a:r>
          </a:p>
        </p:txBody>
      </p:sp>
      <p:sp>
        <p:nvSpPr>
          <p:cNvPr id="9" name="Title 1">
            <a:extLst>
              <a:ext uri="{FF2B5EF4-FFF2-40B4-BE49-F238E27FC236}">
                <a16:creationId xmlns:a16="http://schemas.microsoft.com/office/drawing/2014/main" id="{B3A35DBE-8596-56D9-5BAF-D6094649F8AA}"/>
              </a:ext>
            </a:extLst>
          </p:cNvPr>
          <p:cNvSpPr txBox="1">
            <a:spLocks/>
          </p:cNvSpPr>
          <p:nvPr userDrawn="1"/>
        </p:nvSpPr>
        <p:spPr>
          <a:xfrm>
            <a:off x="3620849" y="711656"/>
            <a:ext cx="3038263" cy="370416"/>
          </a:xfrm>
          <a:prstGeom prst="rect">
            <a:avLst/>
          </a:prstGeom>
        </p:spPr>
        <p:txBody>
          <a:bodyPr vert="horz" lIns="91440" tIns="45720" rIns="91440" bIns="45720" rtlCol="0" anchor="ctr">
            <a:normAutofit/>
          </a:bodyPr>
          <a:lstStyle>
            <a:lvl1pPr algn="l" defTabSz="217004" rtl="0" eaLnBrk="1" latinLnBrk="0" hangingPunct="1">
              <a:lnSpc>
                <a:spcPct val="90000"/>
              </a:lnSpc>
              <a:spcBef>
                <a:spcPct val="0"/>
              </a:spcBef>
              <a:buNone/>
              <a:defRPr lang="en-US" sz="1800" b="0" kern="1200" dirty="0">
                <a:solidFill>
                  <a:srgbClr val="00853E"/>
                </a:solidFill>
                <a:latin typeface="+mj-lt"/>
                <a:ea typeface="+mj-ea"/>
                <a:cs typeface="+mj-cs"/>
              </a:defRPr>
            </a:lvl1pPr>
          </a:lstStyle>
          <a:p>
            <a:r>
              <a:rPr lang="en-US" sz="1600" dirty="0"/>
              <a:t>Click to edit Master title style</a:t>
            </a:r>
          </a:p>
        </p:txBody>
      </p:sp>
    </p:spTree>
    <p:extLst>
      <p:ext uri="{BB962C8B-B14F-4D97-AF65-F5344CB8AC3E}">
        <p14:creationId xmlns:p14="http://schemas.microsoft.com/office/powerpoint/2010/main" val="99149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8890" y="165095"/>
            <a:ext cx="6381326" cy="370416"/>
          </a:xfrm>
        </p:spPr>
        <p:txBody>
          <a:bodyPr vert="horz" lIns="91440" tIns="45720" rIns="91440" bIns="45720" rtlCol="0" anchor="ctr">
            <a:normAutofit/>
          </a:bodyPr>
          <a:lstStyle>
            <a:lvl1pPr>
              <a:defRPr lang="en-US" dirty="0"/>
            </a:lvl1pPr>
          </a:lstStyle>
          <a:p>
            <a:pPr lvl="0"/>
            <a:r>
              <a:rPr lang="en-US" dirty="0"/>
              <a:t>Click to edit Master title style</a:t>
            </a:r>
          </a:p>
        </p:txBody>
      </p:sp>
      <p:sp>
        <p:nvSpPr>
          <p:cNvPr id="3" name="Content Placeholder 2"/>
          <p:cNvSpPr>
            <a:spLocks noGrp="1"/>
          </p:cNvSpPr>
          <p:nvPr>
            <p:ph sz="half" idx="1"/>
          </p:nvPr>
        </p:nvSpPr>
        <p:spPr>
          <a:xfrm>
            <a:off x="255414" y="1081276"/>
            <a:ext cx="3134139" cy="68819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3283" y="1082073"/>
            <a:ext cx="3137535" cy="32841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55415" y="8475134"/>
            <a:ext cx="557213" cy="486833"/>
          </a:xfrm>
          <a:prstGeom prst="rect">
            <a:avLst/>
          </a:prstGeom>
        </p:spPr>
        <p:txBody>
          <a:bodyPr/>
          <a:lstStyle/>
          <a:p>
            <a:fld id="{EEB4E49E-8B3B-4DE9-A948-A03B75F4E63E}" type="datetime1">
              <a:rPr lang="en-US" smtClean="0"/>
              <a:t>1/16/2026</a:t>
            </a:fld>
            <a:endParaRPr lang="en-US"/>
          </a:p>
        </p:txBody>
      </p:sp>
      <p:sp>
        <p:nvSpPr>
          <p:cNvPr id="6" name="Footer Placeholder 5"/>
          <p:cNvSpPr>
            <a:spLocks noGrp="1"/>
          </p:cNvSpPr>
          <p:nvPr>
            <p:ph type="ftr" sz="quarter" idx="11"/>
          </p:nvPr>
        </p:nvSpPr>
        <p:spPr/>
        <p:txBody>
          <a:bodyPr/>
          <a:lstStyle/>
          <a:p>
            <a:r>
              <a:rPr lang="sv-SE"/>
              <a:t>© 2025, Anna Sidorova, UNT. BCIS5140 - Project Report Boilerplate</a:t>
            </a:r>
            <a:endParaRPr lang="en-US" dirty="0"/>
          </a:p>
        </p:txBody>
      </p:sp>
      <p:sp>
        <p:nvSpPr>
          <p:cNvPr id="7" name="Slide Number Placeholder 6"/>
          <p:cNvSpPr>
            <a:spLocks noGrp="1"/>
          </p:cNvSpPr>
          <p:nvPr>
            <p:ph type="sldNum" sz="quarter" idx="12"/>
          </p:nvPr>
        </p:nvSpPr>
        <p:spPr>
          <a:xfrm>
            <a:off x="6375534" y="8475136"/>
            <a:ext cx="265284" cy="486833"/>
          </a:xfrm>
          <a:prstGeom prst="rect">
            <a:avLst/>
          </a:prstGeom>
        </p:spPr>
        <p:txBody>
          <a:bodyPr/>
          <a:lstStyle/>
          <a:p>
            <a:fld id="{CD8DB1C3-41AE-4558-B8AC-7C3996A412DF}" type="slidenum">
              <a:rPr lang="en-US" smtClean="0"/>
              <a:t>‹#›</a:t>
            </a:fld>
            <a:endParaRPr lang="en-US"/>
          </a:p>
        </p:txBody>
      </p:sp>
      <p:sp>
        <p:nvSpPr>
          <p:cNvPr id="8" name="Title 1">
            <a:extLst>
              <a:ext uri="{FF2B5EF4-FFF2-40B4-BE49-F238E27FC236}">
                <a16:creationId xmlns:a16="http://schemas.microsoft.com/office/drawing/2014/main" id="{24AB93A1-77C0-0684-2C78-4619D5EC991D}"/>
              </a:ext>
            </a:extLst>
          </p:cNvPr>
          <p:cNvSpPr txBox="1">
            <a:spLocks/>
          </p:cNvSpPr>
          <p:nvPr userDrawn="1"/>
        </p:nvSpPr>
        <p:spPr>
          <a:xfrm>
            <a:off x="198890" y="693922"/>
            <a:ext cx="3038263" cy="370416"/>
          </a:xfrm>
          <a:prstGeom prst="rect">
            <a:avLst/>
          </a:prstGeom>
        </p:spPr>
        <p:txBody>
          <a:bodyPr vert="horz" lIns="91440" tIns="45720" rIns="91440" bIns="45720" rtlCol="0" anchor="ctr">
            <a:normAutofit/>
          </a:bodyPr>
          <a:lstStyle>
            <a:lvl1pPr algn="l" defTabSz="217004" rtl="0" eaLnBrk="1" latinLnBrk="0" hangingPunct="1">
              <a:lnSpc>
                <a:spcPct val="90000"/>
              </a:lnSpc>
              <a:spcBef>
                <a:spcPct val="0"/>
              </a:spcBef>
              <a:buNone/>
              <a:defRPr lang="en-US" sz="1800" b="0" kern="1200" dirty="0">
                <a:solidFill>
                  <a:srgbClr val="00853E"/>
                </a:solidFill>
                <a:latin typeface="+mj-lt"/>
                <a:ea typeface="+mj-ea"/>
                <a:cs typeface="+mj-cs"/>
              </a:defRPr>
            </a:lvl1pPr>
          </a:lstStyle>
          <a:p>
            <a:r>
              <a:rPr lang="en-US" sz="1600"/>
              <a:t>Click to edit Master title style</a:t>
            </a:r>
          </a:p>
        </p:txBody>
      </p:sp>
      <p:sp>
        <p:nvSpPr>
          <p:cNvPr id="9" name="Title 1">
            <a:extLst>
              <a:ext uri="{FF2B5EF4-FFF2-40B4-BE49-F238E27FC236}">
                <a16:creationId xmlns:a16="http://schemas.microsoft.com/office/drawing/2014/main" id="{B3A35DBE-8596-56D9-5BAF-D6094649F8AA}"/>
              </a:ext>
            </a:extLst>
          </p:cNvPr>
          <p:cNvSpPr txBox="1">
            <a:spLocks/>
          </p:cNvSpPr>
          <p:nvPr userDrawn="1"/>
        </p:nvSpPr>
        <p:spPr>
          <a:xfrm>
            <a:off x="3620849" y="711656"/>
            <a:ext cx="3038263" cy="370416"/>
          </a:xfrm>
          <a:prstGeom prst="rect">
            <a:avLst/>
          </a:prstGeom>
        </p:spPr>
        <p:txBody>
          <a:bodyPr vert="horz" lIns="91440" tIns="45720" rIns="91440" bIns="45720" rtlCol="0" anchor="ctr">
            <a:normAutofit/>
          </a:bodyPr>
          <a:lstStyle>
            <a:lvl1pPr algn="l" defTabSz="217004" rtl="0" eaLnBrk="1" latinLnBrk="0" hangingPunct="1">
              <a:lnSpc>
                <a:spcPct val="90000"/>
              </a:lnSpc>
              <a:spcBef>
                <a:spcPct val="0"/>
              </a:spcBef>
              <a:buNone/>
              <a:defRPr lang="en-US" sz="1800" b="0" kern="1200" dirty="0">
                <a:solidFill>
                  <a:srgbClr val="00853E"/>
                </a:solidFill>
                <a:latin typeface="+mj-lt"/>
                <a:ea typeface="+mj-ea"/>
                <a:cs typeface="+mj-cs"/>
              </a:defRPr>
            </a:lvl1pPr>
          </a:lstStyle>
          <a:p>
            <a:r>
              <a:rPr lang="en-US" sz="1600" dirty="0"/>
              <a:t>Click to edit Master title style</a:t>
            </a:r>
          </a:p>
        </p:txBody>
      </p:sp>
      <p:sp>
        <p:nvSpPr>
          <p:cNvPr id="10" name="Content Placeholder 3">
            <a:extLst>
              <a:ext uri="{FF2B5EF4-FFF2-40B4-BE49-F238E27FC236}">
                <a16:creationId xmlns:a16="http://schemas.microsoft.com/office/drawing/2014/main" id="{5578AA62-DAD2-FFD1-E16E-486269786A81}"/>
              </a:ext>
            </a:extLst>
          </p:cNvPr>
          <p:cNvSpPr>
            <a:spLocks noGrp="1"/>
          </p:cNvSpPr>
          <p:nvPr>
            <p:ph sz="half" idx="13"/>
          </p:nvPr>
        </p:nvSpPr>
        <p:spPr>
          <a:xfrm>
            <a:off x="3521577" y="4522259"/>
            <a:ext cx="3137535" cy="34409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484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1" y="0"/>
            <a:ext cx="6857999" cy="685799"/>
          </a:xfrm>
          <a:prstGeom prst="rect">
            <a:avLst/>
          </a:prstGeom>
          <a:solidFill>
            <a:srgbClr val="007E39"/>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27">
              <a:solidFill>
                <a:schemeClr val="bg1"/>
              </a:solidFill>
            </a:endParaRPr>
          </a:p>
        </p:txBody>
      </p:sp>
      <p:sp>
        <p:nvSpPr>
          <p:cNvPr id="2" name="Title 1"/>
          <p:cNvSpPr>
            <a:spLocks noGrp="1"/>
          </p:cNvSpPr>
          <p:nvPr>
            <p:ph type="title"/>
          </p:nvPr>
        </p:nvSpPr>
        <p:spPr/>
        <p:txBody>
          <a:bodyPr vert="horz" lIns="91440" tIns="45720" rIns="91440" bIns="45720" rtlCol="0" anchor="ctr">
            <a:normAutofit/>
          </a:bodyPr>
          <a:lstStyle>
            <a:lvl1pPr>
              <a:defRPr lang="en-US" dirty="0">
                <a:solidFill>
                  <a:schemeClr val="bg1"/>
                </a:solidFill>
              </a:defRPr>
            </a:lvl1pPr>
          </a:lstStyle>
          <a:p>
            <a:pPr lvl="0"/>
            <a:r>
              <a:rPr lang="en-US" dirty="0"/>
              <a:t>Click to edit Master title style</a:t>
            </a:r>
          </a:p>
        </p:txBody>
      </p:sp>
      <p:sp>
        <p:nvSpPr>
          <p:cNvPr id="3" name="Content Placeholder 2"/>
          <p:cNvSpPr>
            <a:spLocks noGrp="1"/>
          </p:cNvSpPr>
          <p:nvPr>
            <p:ph idx="1"/>
          </p:nvPr>
        </p:nvSpPr>
        <p:spPr>
          <a:xfrm>
            <a:off x="255415" y="795878"/>
            <a:ext cx="6333827" cy="7233270"/>
          </a:xfrm>
          <a:ln>
            <a:noFill/>
          </a:ln>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255415" y="8475134"/>
            <a:ext cx="557213" cy="486833"/>
          </a:xfrm>
          <a:prstGeom prst="rect">
            <a:avLst/>
          </a:prstGeom>
        </p:spPr>
        <p:txBody>
          <a:bodyPr/>
          <a:lstStyle/>
          <a:p>
            <a:fld id="{253EFD7D-CE96-4D22-864D-82619F3BB5DF}" type="datetime1">
              <a:rPr lang="en-US" smtClean="0"/>
              <a:t>1/16/2026</a:t>
            </a:fld>
            <a:endParaRPr lang="en-US"/>
          </a:p>
        </p:txBody>
      </p:sp>
      <p:sp>
        <p:nvSpPr>
          <p:cNvPr id="5" name="Footer Placeholder 4"/>
          <p:cNvSpPr>
            <a:spLocks noGrp="1"/>
          </p:cNvSpPr>
          <p:nvPr>
            <p:ph type="ftr" sz="quarter" idx="11"/>
          </p:nvPr>
        </p:nvSpPr>
        <p:spPr/>
        <p:txBody>
          <a:bodyPr/>
          <a:lstStyle/>
          <a:p>
            <a:r>
              <a:rPr lang="sv-SE"/>
              <a:t>© 2025, Anna Sidorova, UNT. BCIS5140 - Project Report Boilerplate</a:t>
            </a:r>
            <a:endParaRPr lang="en-US" dirty="0"/>
          </a:p>
        </p:txBody>
      </p:sp>
      <p:sp>
        <p:nvSpPr>
          <p:cNvPr id="6" name="Slide Number Placeholder 5"/>
          <p:cNvSpPr>
            <a:spLocks noGrp="1"/>
          </p:cNvSpPr>
          <p:nvPr>
            <p:ph type="sldNum" sz="quarter" idx="12"/>
          </p:nvPr>
        </p:nvSpPr>
        <p:spPr>
          <a:xfrm>
            <a:off x="6375534" y="8475136"/>
            <a:ext cx="265284" cy="486833"/>
          </a:xfrm>
          <a:prstGeom prst="rect">
            <a:avLst/>
          </a:prstGeom>
        </p:spPr>
        <p:txBody>
          <a:bodyPr/>
          <a:lstStyle/>
          <a:p>
            <a:fld id="{CD8DB1C3-41AE-4558-B8AC-7C3996A412DF}" type="slidenum">
              <a:rPr lang="en-US" smtClean="0"/>
              <a:t>‹#›</a:t>
            </a:fld>
            <a:endParaRPr lang="en-US"/>
          </a:p>
        </p:txBody>
      </p:sp>
    </p:spTree>
    <p:extLst>
      <p:ext uri="{BB962C8B-B14F-4D97-AF65-F5344CB8AC3E}">
        <p14:creationId xmlns:p14="http://schemas.microsoft.com/office/powerpoint/2010/main" val="182251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1" y="4"/>
            <a:ext cx="6857999" cy="8119532"/>
          </a:xfrm>
          <a:prstGeom prst="rect">
            <a:avLst/>
          </a:prstGeom>
          <a:solidFill>
            <a:srgbClr val="007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27"/>
          </a:p>
        </p:txBody>
      </p:sp>
      <p:pic>
        <p:nvPicPr>
          <p:cNvPr id="7" name="Picture 6"/>
          <p:cNvPicPr>
            <a:picLocks noChangeAspect="1"/>
          </p:cNvPicPr>
          <p:nvPr userDrawn="1"/>
        </p:nvPicPr>
        <p:blipFill>
          <a:blip r:embed="rId2"/>
          <a:stretch>
            <a:fillRect/>
          </a:stretch>
        </p:blipFill>
        <p:spPr>
          <a:xfrm>
            <a:off x="1" y="4354286"/>
            <a:ext cx="6857999" cy="2157047"/>
          </a:xfrm>
          <a:prstGeom prst="rect">
            <a:avLst/>
          </a:prstGeom>
        </p:spPr>
      </p:pic>
      <p:sp>
        <p:nvSpPr>
          <p:cNvPr id="2" name="Title 1"/>
          <p:cNvSpPr>
            <a:spLocks noGrp="1"/>
          </p:cNvSpPr>
          <p:nvPr>
            <p:ph type="title"/>
          </p:nvPr>
        </p:nvSpPr>
        <p:spPr>
          <a:xfrm>
            <a:off x="467916" y="5131359"/>
            <a:ext cx="5653313" cy="1379973"/>
          </a:xfrm>
        </p:spPr>
        <p:txBody>
          <a:bodyPr anchor="b">
            <a:normAutofit/>
          </a:bodyPr>
          <a:lstStyle>
            <a:lvl1pPr>
              <a:defRPr sz="1282" b="0">
                <a:solidFill>
                  <a:schemeClr val="bg1">
                    <a:lumMod val="95000"/>
                  </a:schemeClr>
                </a:solidFill>
              </a:defRPr>
            </a:lvl1pPr>
          </a:lstStyle>
          <a:p>
            <a:r>
              <a:rPr lang="en-US" dirty="0"/>
              <a:t>Click to edit Master title style</a:t>
            </a:r>
          </a:p>
        </p:txBody>
      </p:sp>
      <p:sp>
        <p:nvSpPr>
          <p:cNvPr id="3" name="Text Placeholder 2"/>
          <p:cNvSpPr>
            <a:spLocks noGrp="1"/>
          </p:cNvSpPr>
          <p:nvPr>
            <p:ph type="body" idx="1"/>
          </p:nvPr>
        </p:nvSpPr>
        <p:spPr>
          <a:xfrm>
            <a:off x="467916" y="6511333"/>
            <a:ext cx="5653313" cy="1608201"/>
          </a:xfrm>
        </p:spPr>
        <p:txBody>
          <a:bodyPr/>
          <a:lstStyle>
            <a:lvl1pPr marL="0" indent="0">
              <a:buNone/>
              <a:defRPr sz="570">
                <a:solidFill>
                  <a:schemeClr val="bg1"/>
                </a:solidFill>
              </a:defRPr>
            </a:lvl1pPr>
            <a:lvl2pPr marL="108502" indent="0">
              <a:buNone/>
              <a:defRPr sz="475">
                <a:solidFill>
                  <a:schemeClr val="tx1">
                    <a:tint val="75000"/>
                  </a:schemeClr>
                </a:solidFill>
              </a:defRPr>
            </a:lvl2pPr>
            <a:lvl3pPr marL="217004" indent="0">
              <a:buNone/>
              <a:defRPr sz="427">
                <a:solidFill>
                  <a:schemeClr val="tx1">
                    <a:tint val="75000"/>
                  </a:schemeClr>
                </a:solidFill>
              </a:defRPr>
            </a:lvl3pPr>
            <a:lvl4pPr marL="325506" indent="0">
              <a:buNone/>
              <a:defRPr sz="380">
                <a:solidFill>
                  <a:schemeClr val="tx1">
                    <a:tint val="75000"/>
                  </a:schemeClr>
                </a:solidFill>
              </a:defRPr>
            </a:lvl4pPr>
            <a:lvl5pPr marL="434009" indent="0">
              <a:buNone/>
              <a:defRPr sz="380">
                <a:solidFill>
                  <a:schemeClr val="tx1">
                    <a:tint val="75000"/>
                  </a:schemeClr>
                </a:solidFill>
              </a:defRPr>
            </a:lvl5pPr>
            <a:lvl6pPr marL="542511" indent="0">
              <a:buNone/>
              <a:defRPr sz="380">
                <a:solidFill>
                  <a:schemeClr val="tx1">
                    <a:tint val="75000"/>
                  </a:schemeClr>
                </a:solidFill>
              </a:defRPr>
            </a:lvl6pPr>
            <a:lvl7pPr marL="651013" indent="0">
              <a:buNone/>
              <a:defRPr sz="380">
                <a:solidFill>
                  <a:schemeClr val="tx1">
                    <a:tint val="75000"/>
                  </a:schemeClr>
                </a:solidFill>
              </a:defRPr>
            </a:lvl7pPr>
            <a:lvl8pPr marL="759515" indent="0">
              <a:buNone/>
              <a:defRPr sz="380">
                <a:solidFill>
                  <a:schemeClr val="tx1">
                    <a:tint val="75000"/>
                  </a:schemeClr>
                </a:solidFill>
              </a:defRPr>
            </a:lvl8pPr>
            <a:lvl9pPr marL="868017" indent="0">
              <a:buNone/>
              <a:defRPr sz="38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a:xfrm>
            <a:off x="255415" y="8475134"/>
            <a:ext cx="557213" cy="486833"/>
          </a:xfrm>
          <a:prstGeom prst="rect">
            <a:avLst/>
          </a:prstGeom>
        </p:spPr>
        <p:txBody>
          <a:bodyPr/>
          <a:lstStyle/>
          <a:p>
            <a:fld id="{7C723F82-160A-4C6B-9418-81F479E612C2}" type="datetime1">
              <a:rPr lang="en-US" smtClean="0"/>
              <a:t>1/16/2026</a:t>
            </a:fld>
            <a:endParaRPr lang="en-US"/>
          </a:p>
        </p:txBody>
      </p:sp>
      <p:sp>
        <p:nvSpPr>
          <p:cNvPr id="5" name="Footer Placeholder 4"/>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45303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10"/>
          <a:stretch>
            <a:fillRect/>
          </a:stretch>
        </p:blipFill>
        <p:spPr>
          <a:xfrm>
            <a:off x="0" y="8136928"/>
            <a:ext cx="6858595" cy="1040475"/>
          </a:xfrm>
          <a:prstGeom prst="rect">
            <a:avLst/>
          </a:prstGeom>
        </p:spPr>
      </p:pic>
      <p:sp>
        <p:nvSpPr>
          <p:cNvPr id="2" name="Title Placeholder 1"/>
          <p:cNvSpPr>
            <a:spLocks noGrp="1"/>
          </p:cNvSpPr>
          <p:nvPr>
            <p:ph type="title"/>
          </p:nvPr>
        </p:nvSpPr>
        <p:spPr>
          <a:xfrm>
            <a:off x="251334" y="110078"/>
            <a:ext cx="6329748" cy="4389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5415" y="685800"/>
            <a:ext cx="6333827" cy="728524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255415" y="8492072"/>
            <a:ext cx="2567795" cy="486833"/>
          </a:xfrm>
          <a:prstGeom prst="rect">
            <a:avLst/>
          </a:prstGeom>
        </p:spPr>
        <p:txBody>
          <a:bodyPr vert="horz" lIns="91440" tIns="45720" rIns="91440" bIns="45720" rtlCol="0" anchor="ctr"/>
          <a:lstStyle>
            <a:lvl1pPr algn="ctr">
              <a:defRPr sz="1100">
                <a:solidFill>
                  <a:schemeClr val="bg1"/>
                </a:solidFill>
              </a:defRPr>
            </a:lvl1pPr>
          </a:lstStyle>
          <a:p>
            <a:r>
              <a:rPr lang="sv-SE" dirty="0"/>
              <a:t>© 2025, Anna Sidorova, UNT. BCIS5140 - Project Report Boilerplate</a:t>
            </a:r>
            <a:endParaRPr lang="en-US" dirty="0"/>
          </a:p>
        </p:txBody>
      </p:sp>
      <p:pic>
        <p:nvPicPr>
          <p:cNvPr id="16" name="Picture 15"/>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268980" y="8163009"/>
            <a:ext cx="3436475" cy="980991"/>
          </a:xfrm>
          <a:prstGeom prst="rect">
            <a:avLst/>
          </a:prstGeom>
          <a:ln>
            <a:solidFill>
              <a:srgbClr val="00853E"/>
            </a:solidFill>
          </a:ln>
        </p:spPr>
      </p:pic>
    </p:spTree>
    <p:extLst>
      <p:ext uri="{BB962C8B-B14F-4D97-AF65-F5344CB8AC3E}">
        <p14:creationId xmlns:p14="http://schemas.microsoft.com/office/powerpoint/2010/main" val="4109630564"/>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8" r:id="rId4"/>
    <p:sldLayoutId id="2147483664" r:id="rId5"/>
    <p:sldLayoutId id="2147483677" r:id="rId6"/>
    <p:sldLayoutId id="2147483662" r:id="rId7"/>
    <p:sldLayoutId id="2147483663" r:id="rId8"/>
  </p:sldLayoutIdLst>
  <p:hf sldNum="0" hdr="0" dt="0"/>
  <p:txStyles>
    <p:titleStyle>
      <a:lvl1pPr algn="l" defTabSz="217004" rtl="0" eaLnBrk="1" latinLnBrk="0" hangingPunct="1">
        <a:lnSpc>
          <a:spcPct val="90000"/>
        </a:lnSpc>
        <a:spcBef>
          <a:spcPct val="0"/>
        </a:spcBef>
        <a:buNone/>
        <a:defRPr sz="2000" b="0" kern="1200">
          <a:solidFill>
            <a:srgbClr val="00853E"/>
          </a:solidFill>
          <a:latin typeface="+mj-lt"/>
          <a:ea typeface="+mj-ea"/>
          <a:cs typeface="+mj-cs"/>
        </a:defRPr>
      </a:lvl1pPr>
    </p:titleStyle>
    <p:bodyStyle>
      <a:lvl1pPr marL="54251" indent="-54251" algn="l" defTabSz="217004" rtl="0" eaLnBrk="1" latinLnBrk="0" hangingPunct="1">
        <a:lnSpc>
          <a:spcPct val="90000"/>
        </a:lnSpc>
        <a:spcBef>
          <a:spcPts val="238"/>
        </a:spcBef>
        <a:buFont typeface="Arial" panose="020B0604020202020204" pitchFamily="34" charset="0"/>
        <a:buChar char="•"/>
        <a:defRPr sz="1600" kern="1200">
          <a:solidFill>
            <a:schemeClr val="tx1"/>
          </a:solidFill>
          <a:latin typeface="+mn-lt"/>
          <a:ea typeface="+mn-ea"/>
          <a:cs typeface="+mn-cs"/>
        </a:defRPr>
      </a:lvl1pPr>
      <a:lvl2pPr marL="162753"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2pPr>
      <a:lvl3pPr marL="271256"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3pPr>
      <a:lvl4pPr marL="379758"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4pPr>
      <a:lvl5pPr marL="488260"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5pPr>
      <a:lvl6pPr marL="596762"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6pPr>
      <a:lvl7pPr marL="705264"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7pPr>
      <a:lvl8pPr marL="813766"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8pPr>
      <a:lvl9pPr marL="922268"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9pPr>
    </p:bodyStyle>
    <p:otherStyle>
      <a:defPPr>
        <a:defRPr lang="en-US"/>
      </a:defPPr>
      <a:lvl1pPr marL="0" algn="l" defTabSz="217004" rtl="0" eaLnBrk="1" latinLnBrk="0" hangingPunct="1">
        <a:defRPr sz="427" kern="1200">
          <a:solidFill>
            <a:schemeClr val="tx1"/>
          </a:solidFill>
          <a:latin typeface="+mn-lt"/>
          <a:ea typeface="+mn-ea"/>
          <a:cs typeface="+mn-cs"/>
        </a:defRPr>
      </a:lvl1pPr>
      <a:lvl2pPr marL="108502" algn="l" defTabSz="217004" rtl="0" eaLnBrk="1" latinLnBrk="0" hangingPunct="1">
        <a:defRPr sz="427" kern="1200">
          <a:solidFill>
            <a:schemeClr val="tx1"/>
          </a:solidFill>
          <a:latin typeface="+mn-lt"/>
          <a:ea typeface="+mn-ea"/>
          <a:cs typeface="+mn-cs"/>
        </a:defRPr>
      </a:lvl2pPr>
      <a:lvl3pPr marL="217004" algn="l" defTabSz="217004" rtl="0" eaLnBrk="1" latinLnBrk="0" hangingPunct="1">
        <a:defRPr sz="427" kern="1200">
          <a:solidFill>
            <a:schemeClr val="tx1"/>
          </a:solidFill>
          <a:latin typeface="+mn-lt"/>
          <a:ea typeface="+mn-ea"/>
          <a:cs typeface="+mn-cs"/>
        </a:defRPr>
      </a:lvl3pPr>
      <a:lvl4pPr marL="325506" algn="l" defTabSz="217004" rtl="0" eaLnBrk="1" latinLnBrk="0" hangingPunct="1">
        <a:defRPr sz="427" kern="1200">
          <a:solidFill>
            <a:schemeClr val="tx1"/>
          </a:solidFill>
          <a:latin typeface="+mn-lt"/>
          <a:ea typeface="+mn-ea"/>
          <a:cs typeface="+mn-cs"/>
        </a:defRPr>
      </a:lvl4pPr>
      <a:lvl5pPr marL="434009" algn="l" defTabSz="217004" rtl="0" eaLnBrk="1" latinLnBrk="0" hangingPunct="1">
        <a:defRPr sz="427" kern="1200">
          <a:solidFill>
            <a:schemeClr val="tx1"/>
          </a:solidFill>
          <a:latin typeface="+mn-lt"/>
          <a:ea typeface="+mn-ea"/>
          <a:cs typeface="+mn-cs"/>
        </a:defRPr>
      </a:lvl5pPr>
      <a:lvl6pPr marL="542511" algn="l" defTabSz="217004" rtl="0" eaLnBrk="1" latinLnBrk="0" hangingPunct="1">
        <a:defRPr sz="427" kern="1200">
          <a:solidFill>
            <a:schemeClr val="tx1"/>
          </a:solidFill>
          <a:latin typeface="+mn-lt"/>
          <a:ea typeface="+mn-ea"/>
          <a:cs typeface="+mn-cs"/>
        </a:defRPr>
      </a:lvl6pPr>
      <a:lvl7pPr marL="651013" algn="l" defTabSz="217004" rtl="0" eaLnBrk="1" latinLnBrk="0" hangingPunct="1">
        <a:defRPr sz="427" kern="1200">
          <a:solidFill>
            <a:schemeClr val="tx1"/>
          </a:solidFill>
          <a:latin typeface="+mn-lt"/>
          <a:ea typeface="+mn-ea"/>
          <a:cs typeface="+mn-cs"/>
        </a:defRPr>
      </a:lvl7pPr>
      <a:lvl8pPr marL="759515" algn="l" defTabSz="217004" rtl="0" eaLnBrk="1" latinLnBrk="0" hangingPunct="1">
        <a:defRPr sz="427" kern="1200">
          <a:solidFill>
            <a:schemeClr val="tx1"/>
          </a:solidFill>
          <a:latin typeface="+mn-lt"/>
          <a:ea typeface="+mn-ea"/>
          <a:cs typeface="+mn-cs"/>
        </a:defRPr>
      </a:lvl8pPr>
      <a:lvl9pPr marL="868017" algn="l" defTabSz="217004" rtl="0" eaLnBrk="1" latinLnBrk="0" hangingPunct="1">
        <a:defRPr sz="42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platform.openai.com/docs/guides/prompt-engineering" TargetMode="External"/><Relationship Id="rId3" Type="http://schemas.openxmlformats.org/officeDocument/2006/relationships/hyperlink" Target="https://docs.n8n.io/" TargetMode="External"/><Relationship Id="rId7" Type="http://schemas.openxmlformats.org/officeDocument/2006/relationships/hyperlink" Target="https://github.com/n8n-io" TargetMode="External"/><Relationship Id="rId2" Type="http://schemas.openxmlformats.org/officeDocument/2006/relationships/hyperlink" Target="https://platform.openai.com/docs" TargetMode="External"/><Relationship Id="rId1" Type="http://schemas.openxmlformats.org/officeDocument/2006/relationships/slideLayout" Target="../slideLayouts/slideLayout2.xml"/><Relationship Id="rId6" Type="http://schemas.openxmlformats.org/officeDocument/2006/relationships/hyperlink" Target="https://miro.com/" TargetMode="External"/><Relationship Id="rId5" Type="http://schemas.openxmlformats.org/officeDocument/2006/relationships/hyperlink" Target="https://playstaytionpetresort.com/" TargetMode="External"/><Relationship Id="rId4" Type="http://schemas.openxmlformats.org/officeDocument/2006/relationships/hyperlink" Target="https://developers.google.com/gmail/ap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14936" y="5208681"/>
            <a:ext cx="6228128" cy="2705317"/>
          </a:xfrm>
        </p:spPr>
        <p:txBody>
          <a:bodyPr>
            <a:normAutofit/>
          </a:bodyPr>
          <a:lstStyle/>
          <a:p>
            <a:r>
              <a:rPr lang="en-US" sz="7300" b="1" dirty="0" err="1"/>
              <a:t>WoofFlow</a:t>
            </a:r>
            <a:r>
              <a:rPr lang="en-US" sz="7300" dirty="0"/>
              <a:t>: </a:t>
            </a:r>
            <a:br>
              <a:rPr lang="en-US" sz="7300" dirty="0"/>
            </a:br>
            <a:r>
              <a:rPr lang="en-US" sz="4400" dirty="0"/>
              <a:t>From Email to Entry</a:t>
            </a:r>
            <a:br>
              <a:rPr lang="en-US" dirty="0"/>
            </a:br>
            <a:br>
              <a:rPr lang="en-US" dirty="0">
                <a:solidFill>
                  <a:schemeClr val="tx1"/>
                </a:solidFill>
              </a:rPr>
            </a:br>
            <a:endParaRPr lang="en-US" dirty="0">
              <a:solidFill>
                <a:schemeClr val="tx1"/>
              </a:solidFill>
            </a:endParaRPr>
          </a:p>
        </p:txBody>
      </p:sp>
      <p:sp>
        <p:nvSpPr>
          <p:cNvPr id="2" name="Footer Placeholder 1"/>
          <p:cNvSpPr>
            <a:spLocks noGrp="1"/>
          </p:cNvSpPr>
          <p:nvPr>
            <p:ph type="ftr" sz="quarter" idx="11"/>
          </p:nvPr>
        </p:nvSpPr>
        <p:spPr/>
        <p:txBody>
          <a:bodyPr/>
          <a:lstStyle/>
          <a:p>
            <a:r>
              <a:rPr lang="sv-SE" dirty="0"/>
              <a:t>© 2025, Anna Sidorova, UNT. BCIS5140 - Project Report Boilerplate</a:t>
            </a:r>
            <a:endParaRPr lang="en-US" dirty="0"/>
          </a:p>
        </p:txBody>
      </p:sp>
      <p:sp>
        <p:nvSpPr>
          <p:cNvPr id="3" name="Title 3">
            <a:extLst>
              <a:ext uri="{FF2B5EF4-FFF2-40B4-BE49-F238E27FC236}">
                <a16:creationId xmlns:a16="http://schemas.microsoft.com/office/drawing/2014/main" id="{F325C0AA-0B60-14D7-551D-127AE5B0CBD0}"/>
              </a:ext>
            </a:extLst>
          </p:cNvPr>
          <p:cNvSpPr txBox="1">
            <a:spLocks/>
          </p:cNvSpPr>
          <p:nvPr/>
        </p:nvSpPr>
        <p:spPr>
          <a:xfrm>
            <a:off x="2218944" y="6139055"/>
            <a:ext cx="4108703" cy="1465516"/>
          </a:xfrm>
          <a:prstGeom prst="rect">
            <a:avLst/>
          </a:prstGeom>
        </p:spPr>
        <p:txBody>
          <a:bodyPr vert="horz" lIns="91440" tIns="45720" rIns="91440" bIns="45720" rtlCol="0" anchor="b">
            <a:normAutofit/>
          </a:bodyPr>
          <a:lstStyle>
            <a:lvl1pPr algn="l" defTabSz="217004" rtl="0" eaLnBrk="1" latinLnBrk="0" hangingPunct="1">
              <a:lnSpc>
                <a:spcPct val="90000"/>
              </a:lnSpc>
              <a:spcBef>
                <a:spcPct val="0"/>
              </a:spcBef>
              <a:buNone/>
              <a:defRPr sz="3200" b="0" kern="1200">
                <a:solidFill>
                  <a:srgbClr val="00853E"/>
                </a:solidFill>
                <a:latin typeface="+mj-lt"/>
                <a:ea typeface="+mj-ea"/>
                <a:cs typeface="+mj-cs"/>
              </a:defRPr>
            </a:lvl1pPr>
          </a:lstStyle>
          <a:p>
            <a:pPr algn="r"/>
            <a:br>
              <a:rPr lang="en-US" sz="1400" dirty="0">
                <a:solidFill>
                  <a:schemeClr val="tx1"/>
                </a:solidFill>
              </a:rPr>
            </a:br>
            <a:endParaRPr lang="en-US" sz="2000" dirty="0">
              <a:solidFill>
                <a:schemeClr val="tx1"/>
              </a:solidFill>
            </a:endParaRPr>
          </a:p>
        </p:txBody>
      </p:sp>
      <p:pic>
        <p:nvPicPr>
          <p:cNvPr id="8" name="Picture 4" descr="Email marketing, email automation, marketing automation concept. Using data science to drive marketing automation. Develop a insight customer data strengthen customer engagement, retention, loyalty. Email marketing, email automation, marketing automation concept. Using data science to drive marketing automation. Develop a insight customer data strengthen customer engagement, retention, loyalty. email automation stock pictures, royalty-free photos &amp; images">
            <a:extLst>
              <a:ext uri="{FF2B5EF4-FFF2-40B4-BE49-F238E27FC236}">
                <a16:creationId xmlns:a16="http://schemas.microsoft.com/office/drawing/2014/main" id="{64B69BB4-AC33-A06D-6B22-A6B968536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44583"/>
            <a:ext cx="6858000" cy="392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8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610D5-247A-F45B-58FA-3BF6A636D349}"/>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F05CE148-8CB5-5290-8D8A-7C83D59423FE}"/>
              </a:ext>
            </a:extLst>
          </p:cNvPr>
          <p:cNvSpPr>
            <a:spLocks noGrp="1"/>
          </p:cNvSpPr>
          <p:nvPr>
            <p:ph idx="1"/>
          </p:nvPr>
        </p:nvSpPr>
        <p:spPr/>
        <p:txBody>
          <a:bodyPr>
            <a:normAutofit/>
          </a:bodyPr>
          <a:lstStyle/>
          <a:p>
            <a:pPr marL="0" indent="0">
              <a:buNone/>
            </a:pPr>
            <a:r>
              <a:rPr lang="en-US" sz="1200" dirty="0"/>
              <a:t>To: Vicki Nourse, Owner, </a:t>
            </a:r>
            <a:r>
              <a:rPr lang="en-US" sz="1200" dirty="0" err="1"/>
              <a:t>PlayStayTion</a:t>
            </a:r>
            <a:r>
              <a:rPr lang="en-US" sz="1200" dirty="0"/>
              <a:t> Pet Resort</a:t>
            </a:r>
          </a:p>
          <a:p>
            <a:pPr marL="0" indent="0">
              <a:buNone/>
            </a:pPr>
            <a:r>
              <a:rPr lang="en-US" sz="1200" dirty="0"/>
              <a:t>From: , Team Lead — Project “</a:t>
            </a:r>
            <a:r>
              <a:rPr lang="en-US" sz="1200" dirty="0" err="1"/>
              <a:t>WoofFlow</a:t>
            </a:r>
            <a:r>
              <a:rPr lang="en-US" sz="1200" dirty="0"/>
              <a:t>: From Email to Entry”</a:t>
            </a:r>
          </a:p>
          <a:p>
            <a:pPr marL="0" indent="0">
              <a:buNone/>
            </a:pPr>
            <a:endParaRPr lang="en-US" sz="1200" dirty="0"/>
          </a:p>
          <a:p>
            <a:pPr marL="0" indent="0">
              <a:buNone/>
            </a:pPr>
            <a:r>
              <a:rPr lang="en-US" sz="1200" dirty="0"/>
              <a:t>Date: October 1, 2025</a:t>
            </a:r>
          </a:p>
          <a:p>
            <a:pPr marL="0" indent="0">
              <a:buNone/>
            </a:pPr>
            <a:endParaRPr lang="en-US" sz="1200" dirty="0"/>
          </a:p>
          <a:p>
            <a:pPr marL="0" indent="0">
              <a:buNone/>
            </a:pPr>
            <a:r>
              <a:rPr lang="en-US" sz="1200" dirty="0"/>
              <a:t>RE: </a:t>
            </a:r>
            <a:r>
              <a:rPr lang="en-US" sz="1200" dirty="0" err="1"/>
              <a:t>WoofFlow</a:t>
            </a:r>
            <a:r>
              <a:rPr lang="en-US" sz="1200" dirty="0"/>
              <a:t>: From Email to Entry — AI Email Booking Automation Pilot</a:t>
            </a:r>
          </a:p>
          <a:p>
            <a:pPr marL="0" indent="0">
              <a:buNone/>
            </a:pPr>
            <a:endParaRPr lang="en-US" sz="1200" dirty="0"/>
          </a:p>
          <a:p>
            <a:pPr marL="0" indent="0">
              <a:buNone/>
            </a:pPr>
            <a:r>
              <a:rPr lang="en-US" sz="1200" dirty="0"/>
              <a:t> Dear Ms. Nourse,</a:t>
            </a:r>
          </a:p>
          <a:p>
            <a:pPr marL="0" indent="0">
              <a:buNone/>
            </a:pPr>
            <a:endParaRPr lang="en-US" sz="1200" dirty="0"/>
          </a:p>
          <a:p>
            <a:pPr marL="0" indent="0">
              <a:buNone/>
            </a:pPr>
            <a:r>
              <a:rPr lang="en-US" sz="1200" dirty="0"/>
              <a:t>Thank you for the opportunity to present our final report for </a:t>
            </a:r>
            <a:r>
              <a:rPr lang="en-US" sz="1200" i="1" dirty="0" err="1"/>
              <a:t>WoofFlow</a:t>
            </a:r>
            <a:r>
              <a:rPr lang="en-US" sz="1200" i="1" dirty="0"/>
              <a:t>: From Email to Entry</a:t>
            </a:r>
            <a:r>
              <a:rPr lang="en-US" sz="1200" dirty="0"/>
              <a:t>, an AI-enabled email automation pilot designed specifically for </a:t>
            </a:r>
            <a:r>
              <a:rPr lang="en-US" sz="1200" dirty="0" err="1"/>
              <a:t>PlayStayTion</a:t>
            </a:r>
            <a:r>
              <a:rPr lang="en-US" sz="1200" dirty="0"/>
              <a:t> Pet Resort. This project was conducted as a classroom prototype to explore how intelligent automation can improve customer communication, reduce inbox workload, and streamline the initial steps of the booking process without modifying or accessing any production systems.</a:t>
            </a:r>
          </a:p>
          <a:p>
            <a:endParaRPr lang="en-US" sz="1200" dirty="0"/>
          </a:p>
          <a:p>
            <a:pPr marL="0" indent="0">
              <a:buNone/>
            </a:pPr>
            <a:r>
              <a:rPr lang="en-US" sz="1200" dirty="0" err="1"/>
              <a:t>WoofFlow</a:t>
            </a:r>
            <a:r>
              <a:rPr lang="en-US" sz="1200" dirty="0"/>
              <a:t> focuses on a single high-value workflow: reading customer emails, identifying the type of request (such as boarding, daycare, grooming, training, Pet Taxi, cancellations, or general inquiries), extracting key details, and generating a clear, brand-aligned draft reply that guides customers to complete their booking through the </a:t>
            </a:r>
            <a:r>
              <a:rPr lang="en-US" sz="1200" dirty="0" err="1"/>
              <a:t>ProPet</a:t>
            </a:r>
            <a:r>
              <a:rPr lang="en-US" sz="1200" dirty="0"/>
              <a:t> portal. The system does not confirm availability, does not use or store any live customer data, and ensures that sensitive or unclear requests are routed for staff review.</a:t>
            </a:r>
          </a:p>
          <a:p>
            <a:endParaRPr lang="en-US" sz="1200" dirty="0"/>
          </a:p>
          <a:p>
            <a:pPr marL="0" indent="0">
              <a:buNone/>
            </a:pPr>
            <a:r>
              <a:rPr lang="en-US" sz="1200" dirty="0"/>
              <a:t>The solution is built using </a:t>
            </a:r>
            <a:r>
              <a:rPr lang="en-US" sz="1200" b="1" dirty="0"/>
              <a:t>n8n</a:t>
            </a:r>
            <a:r>
              <a:rPr lang="en-US" sz="1200" dirty="0"/>
              <a:t>, </a:t>
            </a:r>
            <a:r>
              <a:rPr lang="en-US" sz="1200" b="1" dirty="0"/>
              <a:t>OpenAI message models</a:t>
            </a:r>
            <a:r>
              <a:rPr lang="en-US" sz="1200" dirty="0"/>
              <a:t>, and a </a:t>
            </a:r>
            <a:r>
              <a:rPr lang="en-US" sz="1200" b="1" dirty="0"/>
              <a:t>Gmail-based human-in-the-loop process</a:t>
            </a:r>
            <a:r>
              <a:rPr lang="en-US" sz="1200" dirty="0"/>
              <a:t>. Our prototype consists of five coordinated AI agents—Classifier, Extractor, Guardrails, RAG Policy Assistant, and Reply Writer—all orchestrated through a unified workflow. Together, they demonstrate how automation can handle routine inquiries while preserving complete staff oversight. Additional features include Gmail labeling, automated draft creation, escalation routing, and optional logging to Google Sheets for reporting.</a:t>
            </a:r>
          </a:p>
          <a:p>
            <a:endParaRPr lang="en-US" sz="1200" dirty="0"/>
          </a:p>
          <a:p>
            <a:pPr marL="0" indent="0">
              <a:buNone/>
            </a:pPr>
            <a:r>
              <a:rPr lang="en-US" sz="1200" dirty="0"/>
              <a:t>This final report summarizes the project objectives, system design, prototype implementation, workflow logic, economic feasibility, and future extension opportunities. Detailed screenshots of the workflow, configuration, and underlying prompts are included in the appendix. While the current version is a safe academic demonstration, the report also outlines how </a:t>
            </a:r>
            <a:r>
              <a:rPr lang="en-US" sz="1200" dirty="0" err="1"/>
              <a:t>PlayStayTion</a:t>
            </a:r>
            <a:r>
              <a:rPr lang="en-US" sz="1200" dirty="0"/>
              <a:t> could move toward a production-ready version in the future, should the organization wish to continue development.</a:t>
            </a:r>
          </a:p>
          <a:p>
            <a:pPr marL="0" indent="0">
              <a:buNone/>
            </a:pPr>
            <a:endParaRPr lang="en-US" sz="1200" dirty="0"/>
          </a:p>
          <a:p>
            <a:pPr marL="0" indent="0">
              <a:buNone/>
            </a:pPr>
            <a:r>
              <a:rPr lang="en-US" sz="1200" dirty="0"/>
              <a:t>Sincerely,</a:t>
            </a:r>
          </a:p>
          <a:p>
            <a:pPr marL="0" indent="0">
              <a:buNone/>
            </a:pPr>
            <a:br>
              <a:rPr lang="en-US" sz="1200" dirty="0"/>
            </a:br>
            <a:r>
              <a:rPr lang="en-US" sz="1200" b="1" dirty="0"/>
              <a:t> Ravula</a:t>
            </a:r>
            <a:br>
              <a:rPr lang="en-US" sz="1200" dirty="0"/>
            </a:br>
            <a:r>
              <a:rPr lang="en-US" sz="1200" dirty="0"/>
              <a:t>Team Lead – </a:t>
            </a:r>
            <a:r>
              <a:rPr lang="en-US" sz="1200" dirty="0" err="1"/>
              <a:t>WoofFlow</a:t>
            </a:r>
            <a:r>
              <a:rPr lang="en-US" sz="1200" dirty="0"/>
              <a:t>: From Email to Entry</a:t>
            </a:r>
          </a:p>
          <a:p>
            <a:pPr marL="0" indent="0">
              <a:buNone/>
            </a:pPr>
            <a:endParaRPr lang="en-US" sz="1200" dirty="0"/>
          </a:p>
          <a:p>
            <a:pPr marL="0" indent="0">
              <a:buNone/>
            </a:pPr>
            <a:endParaRPr lang="en-US" sz="1200" dirty="0"/>
          </a:p>
        </p:txBody>
      </p:sp>
      <p:sp>
        <p:nvSpPr>
          <p:cNvPr id="4" name="Footer Placeholder 3">
            <a:extLst>
              <a:ext uri="{FF2B5EF4-FFF2-40B4-BE49-F238E27FC236}">
                <a16:creationId xmlns:a16="http://schemas.microsoft.com/office/drawing/2014/main" id="{D2527471-71C3-F1BD-345B-25A7787093B7}"/>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364293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B9BD523-52FA-36BF-2076-0D691E24297F}"/>
              </a:ext>
            </a:extLst>
          </p:cNvPr>
          <p:cNvSpPr>
            <a:spLocks noGrp="1"/>
          </p:cNvSpPr>
          <p:nvPr>
            <p:ph type="ctrTitle"/>
          </p:nvPr>
        </p:nvSpPr>
        <p:spPr/>
        <p:txBody>
          <a:bodyPr/>
          <a:lstStyle/>
          <a:p>
            <a:r>
              <a:rPr lang="en-US" dirty="0"/>
              <a:t>PROJECT OVERVIEW</a:t>
            </a:r>
          </a:p>
        </p:txBody>
      </p:sp>
      <p:sp>
        <p:nvSpPr>
          <p:cNvPr id="4" name="Footer Placeholder 3">
            <a:extLst>
              <a:ext uri="{FF2B5EF4-FFF2-40B4-BE49-F238E27FC236}">
                <a16:creationId xmlns:a16="http://schemas.microsoft.com/office/drawing/2014/main" id="{77D87D5A-928B-A729-BFE3-415BA5BCA445}"/>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185974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A8F047-024D-4F5B-0834-85E5F233560B}"/>
              </a:ext>
            </a:extLst>
          </p:cNvPr>
          <p:cNvSpPr>
            <a:spLocks noGrp="1"/>
          </p:cNvSpPr>
          <p:nvPr>
            <p:ph type="title"/>
          </p:nvPr>
        </p:nvSpPr>
        <p:spPr/>
        <p:txBody>
          <a:bodyPr/>
          <a:lstStyle/>
          <a:p>
            <a:r>
              <a:rPr lang="en-US" dirty="0"/>
              <a:t>Our Understanding of your Business Needs</a:t>
            </a:r>
          </a:p>
        </p:txBody>
      </p:sp>
      <p:sp>
        <p:nvSpPr>
          <p:cNvPr id="6" name="Content Placeholder 5">
            <a:extLst>
              <a:ext uri="{FF2B5EF4-FFF2-40B4-BE49-F238E27FC236}">
                <a16:creationId xmlns:a16="http://schemas.microsoft.com/office/drawing/2014/main" id="{835E5C57-11A8-7280-E68F-89CA52D3DB69}"/>
              </a:ext>
            </a:extLst>
          </p:cNvPr>
          <p:cNvSpPr>
            <a:spLocks noGrp="1"/>
          </p:cNvSpPr>
          <p:nvPr>
            <p:ph idx="1"/>
          </p:nvPr>
        </p:nvSpPr>
        <p:spPr>
          <a:xfrm>
            <a:off x="255415" y="800100"/>
            <a:ext cx="6333827" cy="3493770"/>
          </a:xfrm>
        </p:spPr>
        <p:txBody>
          <a:bodyPr>
            <a:normAutofit/>
          </a:bodyPr>
          <a:lstStyle/>
          <a:p>
            <a:pPr marL="0" indent="0">
              <a:buNone/>
            </a:pPr>
            <a:r>
              <a:rPr lang="en-US" dirty="0">
                <a:solidFill>
                  <a:srgbClr val="007E39"/>
                </a:solidFill>
              </a:rPr>
              <a:t>About the client</a:t>
            </a:r>
          </a:p>
          <a:p>
            <a:pPr marL="0" indent="0">
              <a:buNone/>
            </a:pPr>
            <a:r>
              <a:rPr lang="en-US" sz="1100" dirty="0" err="1"/>
              <a:t>PlayStayTion</a:t>
            </a:r>
            <a:r>
              <a:rPr lang="en-US" sz="1100" dirty="0"/>
              <a:t> Pet Resort &amp; Training is a highly respected, full-service pet hospitality provider located in Sadler, Texas, serving families across North Texas and the broader DFW region. Known for its beautiful countryside setting, exceptional facilities, and professional care, the resort has built a strong brand identity grounded in trust, transparency, and comfort for both pets and their owners.</a:t>
            </a:r>
          </a:p>
          <a:p>
            <a:pPr marL="0" indent="0">
              <a:buNone/>
            </a:pPr>
            <a:r>
              <a:rPr lang="en-US" sz="1100" dirty="0"/>
              <a:t>The resort offers a wide range of premium services—including overnight boarding, structured daycare programs, professional grooming, specialized training, and a convenient Pet Taxi service that operates across numerous cities. Their boarding facilities feature private suites, climate control, daily activity enrichment, secure outdoor play areas, and attentive staff supervision. Grooming services attract customers well beyond the immediate region due to the resort’s reputation for quality and care. Their intensive 30-day training program also draws pet owners looking for reliable behavioral improvement supported by experienced trainers.</a:t>
            </a:r>
          </a:p>
          <a:p>
            <a:pPr marL="0" indent="0">
              <a:buNone/>
            </a:pPr>
            <a:r>
              <a:rPr lang="en-US" sz="1100" dirty="0" err="1"/>
              <a:t>PlayStayTion</a:t>
            </a:r>
            <a:r>
              <a:rPr lang="en-US" sz="1100" dirty="0"/>
              <a:t> operates with a strong customer-service mindset, maintaining clear communication channels through email, phone, and the </a:t>
            </a:r>
            <a:r>
              <a:rPr lang="en-US" sz="1100" b="1" dirty="0" err="1"/>
              <a:t>ProPet</a:t>
            </a:r>
            <a:r>
              <a:rPr lang="en-US" sz="1100" b="1" dirty="0"/>
              <a:t> customer portal</a:t>
            </a:r>
            <a:r>
              <a:rPr lang="en-US" sz="1100" dirty="0"/>
              <a:t>, which customers use for creating accounts, updating vaccinations, and completing reservations. The organization’s credibility is further strengthened by endorsements—such as appearances and testimonials from public figures like Terry Bradshaw—which reinforce the brand’s visibility and reputation.</a:t>
            </a:r>
          </a:p>
          <a:p>
            <a:pPr marL="0" indent="0">
              <a:buNone/>
            </a:pPr>
            <a:r>
              <a:rPr lang="en-US" sz="1100" dirty="0"/>
              <a:t>As a growing business with increasing customer demand, </a:t>
            </a:r>
            <a:r>
              <a:rPr lang="en-US" sz="1100" dirty="0" err="1"/>
              <a:t>PlayStayTion</a:t>
            </a:r>
            <a:r>
              <a:rPr lang="en-US" sz="1100" dirty="0"/>
              <a:t> maintains a commitment to high-quality service delivery, operational reliability, and a personalized customer experience. These values make the business an excellent candidate for carefully designed automation that can support staff without compromising the warm, trusted, family-centered brand tone.</a:t>
            </a:r>
          </a:p>
        </p:txBody>
      </p:sp>
      <p:sp>
        <p:nvSpPr>
          <p:cNvPr id="4" name="Footer Placeholder 3">
            <a:extLst>
              <a:ext uri="{FF2B5EF4-FFF2-40B4-BE49-F238E27FC236}">
                <a16:creationId xmlns:a16="http://schemas.microsoft.com/office/drawing/2014/main" id="{E77272A2-A168-88ED-DE62-6DE181509B9E}"/>
              </a:ext>
            </a:extLst>
          </p:cNvPr>
          <p:cNvSpPr>
            <a:spLocks noGrp="1"/>
          </p:cNvSpPr>
          <p:nvPr>
            <p:ph type="ftr" sz="quarter" idx="11"/>
          </p:nvPr>
        </p:nvSpPr>
        <p:spPr/>
        <p:txBody>
          <a:bodyPr/>
          <a:lstStyle/>
          <a:p>
            <a:r>
              <a:rPr lang="sv-SE"/>
              <a:t>© 2025, Anna Sidorova, UNT. BCIS5140 - Project Report Boilerplate</a:t>
            </a:r>
            <a:endParaRPr lang="en-US" dirty="0"/>
          </a:p>
        </p:txBody>
      </p:sp>
      <p:sp>
        <p:nvSpPr>
          <p:cNvPr id="7" name="Content Placeholder 6">
            <a:extLst>
              <a:ext uri="{FF2B5EF4-FFF2-40B4-BE49-F238E27FC236}">
                <a16:creationId xmlns:a16="http://schemas.microsoft.com/office/drawing/2014/main" id="{F0CC6917-627B-E706-7204-CB3BB490D181}"/>
              </a:ext>
            </a:extLst>
          </p:cNvPr>
          <p:cNvSpPr>
            <a:spLocks noGrp="1"/>
          </p:cNvSpPr>
          <p:nvPr>
            <p:ph idx="13"/>
          </p:nvPr>
        </p:nvSpPr>
        <p:spPr>
          <a:xfrm>
            <a:off x="255415" y="4402182"/>
            <a:ext cx="6333827" cy="3493770"/>
          </a:xfrm>
        </p:spPr>
        <p:txBody>
          <a:bodyPr/>
          <a:lstStyle/>
          <a:p>
            <a:pPr marL="0" indent="0">
              <a:buNone/>
            </a:pPr>
            <a:r>
              <a:rPr lang="en-US" dirty="0">
                <a:solidFill>
                  <a:srgbClr val="007E39"/>
                </a:solidFill>
              </a:rPr>
              <a:t>About the business need</a:t>
            </a:r>
          </a:p>
          <a:p>
            <a:pPr marL="0" indent="0">
              <a:buNone/>
            </a:pPr>
            <a:r>
              <a:rPr lang="en-US" sz="1100" dirty="0" err="1"/>
              <a:t>PlayStayTion</a:t>
            </a:r>
            <a:r>
              <a:rPr lang="en-US" sz="1100" dirty="0"/>
              <a:t> Pet Resort experiences a high and growing volume of customer communication, especially through email. Customers frequently reach out with boarding requests, daycare questions, grooming appointments, training inquiries, Pet Taxi scheduling, cancellations, and general pricing or policy questions. Many clients particularly first-time customers email instead of using the </a:t>
            </a:r>
            <a:r>
              <a:rPr lang="en-US" sz="1100" dirty="0" err="1"/>
              <a:t>ProPet</a:t>
            </a:r>
            <a:r>
              <a:rPr lang="en-US" sz="1100" dirty="0"/>
              <a:t> portal, which increases the number of messages requiring manual review.</a:t>
            </a:r>
          </a:p>
          <a:p>
            <a:pPr marL="0" indent="0">
              <a:buNone/>
            </a:pPr>
            <a:r>
              <a:rPr lang="en-US" sz="1100" dirty="0"/>
              <a:t>This rising volume presents several challenges for staff. Every message must be interpreted and answered individually, often requiring multiple follow-ups because customers do not include essential details such as dates, pet names, or service type. During peak seasons, response times slow significantly as staff balance email communication with direct pet care responsibilities, increasing the risk of missed opportunities or delayed bookings. Additionally, much of the communication is repetitive—redirecting customers to </a:t>
            </a:r>
            <a:r>
              <a:rPr lang="en-US" sz="1100" dirty="0" err="1"/>
              <a:t>ProPet</a:t>
            </a:r>
            <a:r>
              <a:rPr lang="en-US" sz="1100" dirty="0"/>
              <a:t>, explaining pricing, or requesting missing information—resulting in inconsistent messaging and reduced efficiency.</a:t>
            </a:r>
          </a:p>
          <a:p>
            <a:pPr marL="0" indent="0">
              <a:buNone/>
            </a:pPr>
            <a:r>
              <a:rPr lang="en-US" sz="1100" dirty="0"/>
              <a:t>To address these challenges, </a:t>
            </a:r>
            <a:r>
              <a:rPr lang="en-US" sz="1100" dirty="0" err="1"/>
              <a:t>PlayStayTion</a:t>
            </a:r>
            <a:r>
              <a:rPr lang="en-US" sz="1100" dirty="0"/>
              <a:t> has an opportunity to use </a:t>
            </a:r>
            <a:r>
              <a:rPr lang="en-US" sz="1100" b="1" dirty="0"/>
              <a:t>AI-assisted email automation</a:t>
            </a:r>
            <a:r>
              <a:rPr lang="en-US" sz="1100" dirty="0"/>
              <a:t> to streamline communication, reduce administrative workload, and improve response speed. An AI email assistant can extract key details automatically, generate clear and consistent replies, and guide customers directly into the booking process, while still allowing staff to review all drafts before sending. This technology enhances—not replaces—the human touch and serves as a foundation for future expansions such as a voice assistant or multi-channel customer support system.</a:t>
            </a:r>
          </a:p>
          <a:p>
            <a:pPr marL="0" indent="0">
              <a:buNone/>
            </a:pPr>
            <a:r>
              <a:rPr lang="en-US" sz="1100" dirty="0"/>
              <a:t>.</a:t>
            </a:r>
          </a:p>
        </p:txBody>
      </p:sp>
    </p:spTree>
    <p:extLst>
      <p:ext uri="{BB962C8B-B14F-4D97-AF65-F5344CB8AC3E}">
        <p14:creationId xmlns:p14="http://schemas.microsoft.com/office/powerpoint/2010/main" val="957465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17842-6AC0-8957-D365-E8984F4FAD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86D0E8-B2E4-B3B2-762F-9925E3FF1429}"/>
              </a:ext>
            </a:extLst>
          </p:cNvPr>
          <p:cNvSpPr>
            <a:spLocks noGrp="1"/>
          </p:cNvSpPr>
          <p:nvPr>
            <p:ph type="title"/>
          </p:nvPr>
        </p:nvSpPr>
        <p:spPr/>
        <p:txBody>
          <a:bodyPr/>
          <a:lstStyle/>
          <a:p>
            <a:r>
              <a:rPr lang="en-US" dirty="0"/>
              <a:t>Project Goal and Outcomes</a:t>
            </a:r>
          </a:p>
        </p:txBody>
      </p:sp>
      <p:sp>
        <p:nvSpPr>
          <p:cNvPr id="6" name="Content Placeholder 5">
            <a:extLst>
              <a:ext uri="{FF2B5EF4-FFF2-40B4-BE49-F238E27FC236}">
                <a16:creationId xmlns:a16="http://schemas.microsoft.com/office/drawing/2014/main" id="{C04D7ECF-5C89-9B4A-4931-8DC72A1ADA42}"/>
              </a:ext>
            </a:extLst>
          </p:cNvPr>
          <p:cNvSpPr>
            <a:spLocks noGrp="1"/>
          </p:cNvSpPr>
          <p:nvPr>
            <p:ph idx="1"/>
          </p:nvPr>
        </p:nvSpPr>
        <p:spPr>
          <a:xfrm>
            <a:off x="255415" y="800100"/>
            <a:ext cx="6333827" cy="3003804"/>
          </a:xfrm>
        </p:spPr>
        <p:txBody>
          <a:bodyPr/>
          <a:lstStyle/>
          <a:p>
            <a:pPr marL="0" indent="0">
              <a:buNone/>
            </a:pPr>
            <a:r>
              <a:rPr lang="en-US" dirty="0">
                <a:solidFill>
                  <a:srgbClr val="007E39"/>
                </a:solidFill>
              </a:rPr>
              <a:t>Goal of the project</a:t>
            </a:r>
          </a:p>
          <a:p>
            <a:pPr marL="0" indent="0">
              <a:buNone/>
            </a:pPr>
            <a:r>
              <a:rPr lang="en-US" sz="1100" dirty="0"/>
              <a:t>The goal of this project is to design and prototype an AI-powered email automation assistant—</a:t>
            </a:r>
            <a:r>
              <a:rPr lang="en-US" sz="1100" b="1" dirty="0" err="1"/>
              <a:t>WoofFlow</a:t>
            </a:r>
            <a:r>
              <a:rPr lang="en-US" sz="1100" dirty="0"/>
              <a:t>—that can read customer emails, identify the type of request, extract key service details, and generate clear, consistent draft responses for </a:t>
            </a:r>
            <a:r>
              <a:rPr lang="en-US" sz="1100" dirty="0" err="1"/>
              <a:t>PlayStayTion</a:t>
            </a:r>
            <a:r>
              <a:rPr lang="en-US" sz="1100" dirty="0"/>
              <a:t> Pet Resort.</a:t>
            </a:r>
            <a:br>
              <a:rPr lang="en-US" sz="1100" dirty="0"/>
            </a:br>
            <a:r>
              <a:rPr lang="en-US" sz="1100" dirty="0"/>
              <a:t>The prototype aims to reduce staff workload, streamline routine communication, and guide customers into the </a:t>
            </a:r>
            <a:r>
              <a:rPr lang="en-US" sz="1100" dirty="0" err="1"/>
              <a:t>ProPet</a:t>
            </a:r>
            <a:r>
              <a:rPr lang="en-US" sz="1100" dirty="0"/>
              <a:t> booking process while maintaining full human oversight.</a:t>
            </a:r>
          </a:p>
          <a:p>
            <a:pPr marL="0" indent="0">
              <a:buNone/>
            </a:pPr>
            <a:r>
              <a:rPr lang="en-US" sz="1100" dirty="0"/>
              <a:t>To achieve this, the project focuses on:</a:t>
            </a:r>
          </a:p>
          <a:p>
            <a:r>
              <a:rPr lang="en-US" sz="1100" dirty="0"/>
              <a:t>Developing intent classification for boarding, daycare, grooming, training, Pet Taxi, cancellations, and general inquiries</a:t>
            </a:r>
          </a:p>
          <a:p>
            <a:r>
              <a:rPr lang="en-US" sz="1100" dirty="0"/>
              <a:t>Extracting essential details such as pet name, service type, dates, and location</a:t>
            </a:r>
          </a:p>
          <a:p>
            <a:r>
              <a:rPr lang="en-US" sz="1100" dirty="0"/>
              <a:t>Applying guardrails to detect missing information or special cases requiring human review</a:t>
            </a:r>
          </a:p>
          <a:p>
            <a:r>
              <a:rPr lang="en-US" sz="1100" dirty="0"/>
              <a:t>Generating brand-aligned reply drafts that staff can approve before sending</a:t>
            </a:r>
          </a:p>
          <a:p>
            <a:r>
              <a:rPr lang="en-US" sz="1100" dirty="0"/>
              <a:t>Demonstrating how this email assistant can serve as a foundational component for a future multi-channel system, including a potential voice assistant</a:t>
            </a:r>
          </a:p>
          <a:p>
            <a:pPr marL="0" indent="0">
              <a:buNone/>
            </a:pPr>
            <a:r>
              <a:rPr lang="en-US" sz="1100" dirty="0"/>
              <a:t>The ultimate goal is to create a safe, classroom-grade prototype that proves feasibility and informs future automation decisions.</a:t>
            </a:r>
          </a:p>
        </p:txBody>
      </p:sp>
      <p:sp>
        <p:nvSpPr>
          <p:cNvPr id="4" name="Footer Placeholder 3">
            <a:extLst>
              <a:ext uri="{FF2B5EF4-FFF2-40B4-BE49-F238E27FC236}">
                <a16:creationId xmlns:a16="http://schemas.microsoft.com/office/drawing/2014/main" id="{D88D5388-E0AB-0FA2-7C92-D4F23AF976BC}"/>
              </a:ext>
            </a:extLst>
          </p:cNvPr>
          <p:cNvSpPr>
            <a:spLocks noGrp="1"/>
          </p:cNvSpPr>
          <p:nvPr>
            <p:ph type="ftr" sz="quarter" idx="11"/>
          </p:nvPr>
        </p:nvSpPr>
        <p:spPr/>
        <p:txBody>
          <a:bodyPr/>
          <a:lstStyle/>
          <a:p>
            <a:r>
              <a:rPr lang="sv-SE"/>
              <a:t>© 2025, Anna Sidorova, UNT. BCIS5140 - Project Report Boilerplate</a:t>
            </a:r>
            <a:endParaRPr lang="en-US" dirty="0"/>
          </a:p>
        </p:txBody>
      </p:sp>
      <p:sp>
        <p:nvSpPr>
          <p:cNvPr id="7" name="Content Placeholder 6">
            <a:extLst>
              <a:ext uri="{FF2B5EF4-FFF2-40B4-BE49-F238E27FC236}">
                <a16:creationId xmlns:a16="http://schemas.microsoft.com/office/drawing/2014/main" id="{23AFB316-5CF9-9BE2-E643-B62AA3E81131}"/>
              </a:ext>
            </a:extLst>
          </p:cNvPr>
          <p:cNvSpPr>
            <a:spLocks noGrp="1"/>
          </p:cNvSpPr>
          <p:nvPr>
            <p:ph idx="13"/>
          </p:nvPr>
        </p:nvSpPr>
        <p:spPr>
          <a:xfrm>
            <a:off x="268758" y="3803904"/>
            <a:ext cx="6333827" cy="2877639"/>
          </a:xfrm>
        </p:spPr>
        <p:txBody>
          <a:bodyPr/>
          <a:lstStyle/>
          <a:p>
            <a:pPr marL="0" indent="0">
              <a:buNone/>
            </a:pPr>
            <a:r>
              <a:rPr lang="en-US" dirty="0">
                <a:solidFill>
                  <a:srgbClr val="007E39"/>
                </a:solidFill>
              </a:rPr>
              <a:t>Intended outcomes</a:t>
            </a:r>
          </a:p>
          <a:p>
            <a:pPr marL="0" indent="0">
              <a:buNone/>
            </a:pPr>
            <a:r>
              <a:rPr lang="en-US" sz="1100" dirty="0"/>
              <a:t>The project is designed to deliver the following outcomes:</a:t>
            </a:r>
          </a:p>
          <a:p>
            <a:r>
              <a:rPr lang="en-US" sz="1100" dirty="0"/>
              <a:t>A functioning n8n workflow integrating Gmail, OpenAI, guardrail logic, and automated draft responses</a:t>
            </a:r>
          </a:p>
          <a:p>
            <a:r>
              <a:rPr lang="en-US" sz="1100" dirty="0"/>
              <a:t>A proof-of-concept email assistant capable of handling common customer requests with high accuracy</a:t>
            </a:r>
          </a:p>
          <a:p>
            <a:r>
              <a:rPr lang="en-US" sz="1100" dirty="0"/>
              <a:t>Reduction of repetitive manual tasks through automated message parsing and reply generation</a:t>
            </a:r>
          </a:p>
          <a:p>
            <a:r>
              <a:rPr lang="en-US" sz="1100" dirty="0"/>
              <a:t>Consistent, professional, </a:t>
            </a:r>
            <a:r>
              <a:rPr lang="en-US" sz="1100" dirty="0" err="1"/>
              <a:t>PlayStayTion</a:t>
            </a:r>
            <a:r>
              <a:rPr lang="en-US" sz="1100" dirty="0"/>
              <a:t>-branded communication across all supported intents</a:t>
            </a:r>
          </a:p>
          <a:p>
            <a:r>
              <a:rPr lang="en-US" sz="1100" dirty="0"/>
              <a:t>A detailed implementation roadmap showing how this prototype can evolve into a full AI communication system—including voice, chat, and automated booking support</a:t>
            </a:r>
          </a:p>
          <a:p>
            <a:r>
              <a:rPr lang="en-US" sz="1100" dirty="0"/>
              <a:t>Documentation and screenshots that allow </a:t>
            </a:r>
            <a:r>
              <a:rPr lang="en-US" sz="1100" dirty="0" err="1"/>
              <a:t>PlayStayTion</a:t>
            </a:r>
            <a:r>
              <a:rPr lang="en-US" sz="1100" dirty="0"/>
              <a:t> leadership to evaluate the solution for future real-world use</a:t>
            </a:r>
          </a:p>
          <a:p>
            <a:pPr marL="0" indent="0">
              <a:buNone/>
            </a:pPr>
            <a:r>
              <a:rPr lang="en-US" sz="1100" dirty="0"/>
              <a:t>These outcomes demonstrate how AI can support communication efficiency while preserving the warm, personalized customer experience that defines </a:t>
            </a:r>
            <a:r>
              <a:rPr lang="en-US" sz="1100" dirty="0" err="1"/>
              <a:t>PlayStayTion</a:t>
            </a:r>
            <a:r>
              <a:rPr lang="en-US" sz="1100" dirty="0"/>
              <a:t> Pet Resort.</a:t>
            </a:r>
          </a:p>
        </p:txBody>
      </p:sp>
    </p:spTree>
    <p:extLst>
      <p:ext uri="{BB962C8B-B14F-4D97-AF65-F5344CB8AC3E}">
        <p14:creationId xmlns:p14="http://schemas.microsoft.com/office/powerpoint/2010/main" val="560339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3567-9740-0E76-8263-958F2D9690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C8C8B0-9952-C3E7-70BD-B1CD6EB1128D}"/>
              </a:ext>
            </a:extLst>
          </p:cNvPr>
          <p:cNvSpPr>
            <a:spLocks noGrp="1"/>
          </p:cNvSpPr>
          <p:nvPr>
            <p:ph type="title"/>
          </p:nvPr>
        </p:nvSpPr>
        <p:spPr/>
        <p:txBody>
          <a:bodyPr/>
          <a:lstStyle/>
          <a:p>
            <a:r>
              <a:rPr lang="en-US" dirty="0"/>
              <a:t>Project Scope, Constraints and Assumptions</a:t>
            </a:r>
          </a:p>
        </p:txBody>
      </p:sp>
      <p:sp>
        <p:nvSpPr>
          <p:cNvPr id="6" name="Content Placeholder 5">
            <a:extLst>
              <a:ext uri="{FF2B5EF4-FFF2-40B4-BE49-F238E27FC236}">
                <a16:creationId xmlns:a16="http://schemas.microsoft.com/office/drawing/2014/main" id="{CD56060A-427A-EA52-51C8-5F58528622C1}"/>
              </a:ext>
            </a:extLst>
          </p:cNvPr>
          <p:cNvSpPr>
            <a:spLocks noGrp="1"/>
          </p:cNvSpPr>
          <p:nvPr>
            <p:ph idx="1"/>
          </p:nvPr>
        </p:nvSpPr>
        <p:spPr>
          <a:xfrm>
            <a:off x="268758" y="581229"/>
            <a:ext cx="6333827" cy="2762159"/>
          </a:xfrm>
        </p:spPr>
        <p:txBody>
          <a:bodyPr>
            <a:noAutofit/>
          </a:bodyPr>
          <a:lstStyle/>
          <a:p>
            <a:pPr marL="0" indent="0">
              <a:buNone/>
            </a:pPr>
            <a:r>
              <a:rPr lang="en-US" dirty="0">
                <a:solidFill>
                  <a:srgbClr val="007E39"/>
                </a:solidFill>
              </a:rPr>
              <a:t>Scope of the project</a:t>
            </a:r>
          </a:p>
          <a:p>
            <a:pPr marL="0" indent="0">
              <a:buNone/>
            </a:pPr>
            <a:r>
              <a:rPr lang="en-US" sz="1000" dirty="0"/>
              <a:t>The scope of this project is to design, build, and test a </a:t>
            </a:r>
            <a:r>
              <a:rPr lang="en-US" sz="1000" b="1" dirty="0"/>
              <a:t>proof-of-concept AI email assistant</a:t>
            </a:r>
            <a:r>
              <a:rPr lang="en-US" sz="1000" dirty="0"/>
              <a:t> for </a:t>
            </a:r>
            <a:r>
              <a:rPr lang="en-US" sz="1000" dirty="0" err="1"/>
              <a:t>PlayStayTion</a:t>
            </a:r>
            <a:r>
              <a:rPr lang="en-US" sz="1000" dirty="0"/>
              <a:t> Pet Resort using n8n, Gmail integration, and OpenAI message models.</a:t>
            </a:r>
            <a:br>
              <a:rPr lang="en-US" sz="1000" dirty="0"/>
            </a:br>
            <a:r>
              <a:rPr lang="en-US" sz="1000" dirty="0"/>
              <a:t>The project focuses on automating the intake and drafting of responses for common customer email requests—including boarding, daycare, grooming, training, Pet Taxi, cancellations, and general inquiries—while keeping staff fully in the loop for final review.</a:t>
            </a:r>
          </a:p>
          <a:p>
            <a:pPr marL="0" indent="0">
              <a:buNone/>
            </a:pPr>
            <a:r>
              <a:rPr lang="en-US" sz="1000" dirty="0"/>
              <a:t>Key activities include:</a:t>
            </a:r>
          </a:p>
          <a:p>
            <a:r>
              <a:rPr lang="en-US" sz="1000" dirty="0"/>
              <a:t>Collecting and analyzing sample customer emails</a:t>
            </a:r>
          </a:p>
          <a:p>
            <a:r>
              <a:rPr lang="en-US" sz="1000" dirty="0"/>
              <a:t>Designing intent classification for supported service categories</a:t>
            </a:r>
          </a:p>
          <a:p>
            <a:r>
              <a:rPr lang="en-US" sz="1000" dirty="0"/>
              <a:t>Building entity extraction workflows to capture dates, pet names, service types, and other required information</a:t>
            </a:r>
          </a:p>
          <a:p>
            <a:r>
              <a:rPr lang="en-US" sz="1000" dirty="0"/>
              <a:t>Implementing guardrails for missing details, special cases, or human-required interventions</a:t>
            </a:r>
          </a:p>
          <a:p>
            <a:r>
              <a:rPr lang="en-US" sz="1000" dirty="0"/>
              <a:t>Creating consistent, brand-aligned reply templates</a:t>
            </a:r>
          </a:p>
          <a:p>
            <a:r>
              <a:rPr lang="en-US" sz="1000" dirty="0"/>
              <a:t>Constructing an n8n workflow that connects Gmail → AI processing → Draft responses → Label routing → Optional Google Sheet logging</a:t>
            </a:r>
          </a:p>
          <a:p>
            <a:r>
              <a:rPr lang="en-US" sz="1000" dirty="0"/>
              <a:t>Demonstrating how this email assistant can serve as the foundational component for a future multi-channel system (voice, chat, automated booking)</a:t>
            </a:r>
          </a:p>
          <a:p>
            <a:pPr marL="0" indent="0">
              <a:buNone/>
            </a:pPr>
            <a:r>
              <a:rPr lang="en-US" sz="1000" dirty="0"/>
              <a:t>This is an academic, classroom-safe prototype and </a:t>
            </a:r>
            <a:r>
              <a:rPr lang="en-US" sz="1000" b="1" dirty="0"/>
              <a:t>does not connect to live </a:t>
            </a:r>
            <a:r>
              <a:rPr lang="en-US" sz="1000" b="1" dirty="0" err="1"/>
              <a:t>ProPet</a:t>
            </a:r>
            <a:r>
              <a:rPr lang="en-US" sz="1000" b="1" dirty="0"/>
              <a:t> systems or use real customer data</a:t>
            </a:r>
            <a:r>
              <a:rPr lang="en-US" sz="1000" dirty="0"/>
              <a:t>.</a:t>
            </a:r>
          </a:p>
        </p:txBody>
      </p:sp>
      <p:sp>
        <p:nvSpPr>
          <p:cNvPr id="4" name="Footer Placeholder 3">
            <a:extLst>
              <a:ext uri="{FF2B5EF4-FFF2-40B4-BE49-F238E27FC236}">
                <a16:creationId xmlns:a16="http://schemas.microsoft.com/office/drawing/2014/main" id="{D21EA4CB-ACB5-7D5A-20DC-C0EC267ED457}"/>
              </a:ext>
            </a:extLst>
          </p:cNvPr>
          <p:cNvSpPr>
            <a:spLocks noGrp="1"/>
          </p:cNvSpPr>
          <p:nvPr>
            <p:ph type="ftr" sz="quarter" idx="11"/>
          </p:nvPr>
        </p:nvSpPr>
        <p:spPr/>
        <p:txBody>
          <a:bodyPr/>
          <a:lstStyle/>
          <a:p>
            <a:r>
              <a:rPr lang="sv-SE"/>
              <a:t>© 2025, Anna Sidorova, UNT. BCIS5140 - Project Report Boilerplate</a:t>
            </a:r>
            <a:endParaRPr lang="en-US" dirty="0"/>
          </a:p>
        </p:txBody>
      </p:sp>
      <p:sp>
        <p:nvSpPr>
          <p:cNvPr id="7" name="Content Placeholder 6">
            <a:extLst>
              <a:ext uri="{FF2B5EF4-FFF2-40B4-BE49-F238E27FC236}">
                <a16:creationId xmlns:a16="http://schemas.microsoft.com/office/drawing/2014/main" id="{FEEA9BC3-45BE-EFBC-113E-83F6CA52C878}"/>
              </a:ext>
            </a:extLst>
          </p:cNvPr>
          <p:cNvSpPr>
            <a:spLocks noGrp="1"/>
          </p:cNvSpPr>
          <p:nvPr>
            <p:ph idx="13"/>
          </p:nvPr>
        </p:nvSpPr>
        <p:spPr>
          <a:xfrm>
            <a:off x="255415" y="3442907"/>
            <a:ext cx="6333827" cy="297561"/>
          </a:xfrm>
        </p:spPr>
        <p:txBody>
          <a:bodyPr>
            <a:normAutofit lnSpcReduction="10000"/>
          </a:bodyPr>
          <a:lstStyle/>
          <a:p>
            <a:pPr marL="0" indent="0">
              <a:buNone/>
            </a:pPr>
            <a:r>
              <a:rPr lang="en-US" dirty="0">
                <a:solidFill>
                  <a:srgbClr val="007E39"/>
                </a:solidFill>
              </a:rPr>
              <a:t>Project Deliverables</a:t>
            </a:r>
          </a:p>
        </p:txBody>
      </p:sp>
      <p:sp>
        <p:nvSpPr>
          <p:cNvPr id="2" name="Content Placeholder 6">
            <a:extLst>
              <a:ext uri="{FF2B5EF4-FFF2-40B4-BE49-F238E27FC236}">
                <a16:creationId xmlns:a16="http://schemas.microsoft.com/office/drawing/2014/main" id="{5A018E95-FAA5-71D3-836A-6F71197A7D82}"/>
              </a:ext>
            </a:extLst>
          </p:cNvPr>
          <p:cNvSpPr txBox="1">
            <a:spLocks/>
          </p:cNvSpPr>
          <p:nvPr/>
        </p:nvSpPr>
        <p:spPr>
          <a:xfrm>
            <a:off x="268758" y="5908090"/>
            <a:ext cx="6333827" cy="2206181"/>
          </a:xfrm>
          <a:prstGeom prst="rect">
            <a:avLst/>
          </a:prstGeom>
        </p:spPr>
        <p:txBody>
          <a:bodyPr vert="horz" lIns="91440" tIns="45720" rIns="91440" bIns="45720" rtlCol="0">
            <a:normAutofit fontScale="62500" lnSpcReduction="20000"/>
          </a:bodyPr>
          <a:lstStyle>
            <a:lvl1pPr marL="54251" indent="-54251" algn="l" defTabSz="217004" rtl="0" eaLnBrk="1" latinLnBrk="0" hangingPunct="1">
              <a:lnSpc>
                <a:spcPct val="90000"/>
              </a:lnSpc>
              <a:spcBef>
                <a:spcPts val="238"/>
              </a:spcBef>
              <a:buFont typeface="Arial" panose="020B0604020202020204" pitchFamily="34" charset="0"/>
              <a:buChar char="•"/>
              <a:defRPr sz="1600" kern="1200">
                <a:solidFill>
                  <a:schemeClr val="tx1"/>
                </a:solidFill>
                <a:latin typeface="+mn-lt"/>
                <a:ea typeface="+mn-ea"/>
                <a:cs typeface="+mn-cs"/>
              </a:defRPr>
            </a:lvl1pPr>
            <a:lvl2pPr marL="162753"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2pPr>
            <a:lvl3pPr marL="271256"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3pPr>
            <a:lvl4pPr marL="379758"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4pPr>
            <a:lvl5pPr marL="488260" indent="-54251" algn="l" defTabSz="217004" rtl="0" eaLnBrk="1" latinLnBrk="0" hangingPunct="1">
              <a:lnSpc>
                <a:spcPct val="90000"/>
              </a:lnSpc>
              <a:spcBef>
                <a:spcPts val="119"/>
              </a:spcBef>
              <a:buFont typeface="Arial" panose="020B0604020202020204" pitchFamily="34" charset="0"/>
              <a:buChar char="•"/>
              <a:defRPr sz="1100" kern="1200">
                <a:solidFill>
                  <a:schemeClr val="tx1"/>
                </a:solidFill>
                <a:latin typeface="+mn-lt"/>
                <a:ea typeface="+mn-ea"/>
                <a:cs typeface="+mn-cs"/>
              </a:defRPr>
            </a:lvl5pPr>
            <a:lvl6pPr marL="596762"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6pPr>
            <a:lvl7pPr marL="705264"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7pPr>
            <a:lvl8pPr marL="813766"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8pPr>
            <a:lvl9pPr marL="922268" indent="-54251" algn="l" defTabSz="217004" rtl="0" eaLnBrk="1" latinLnBrk="0" hangingPunct="1">
              <a:lnSpc>
                <a:spcPct val="90000"/>
              </a:lnSpc>
              <a:spcBef>
                <a:spcPts val="119"/>
              </a:spcBef>
              <a:buFont typeface="Arial" panose="020B0604020202020204" pitchFamily="34" charset="0"/>
              <a:buChar char="•"/>
              <a:defRPr sz="427" kern="1200">
                <a:solidFill>
                  <a:schemeClr val="tx1"/>
                </a:solidFill>
                <a:latin typeface="+mn-lt"/>
                <a:ea typeface="+mn-ea"/>
                <a:cs typeface="+mn-cs"/>
              </a:defRPr>
            </a:lvl9pPr>
          </a:lstStyle>
          <a:p>
            <a:pPr marL="0" indent="0">
              <a:buFont typeface="Arial" panose="020B0604020202020204" pitchFamily="34" charset="0"/>
              <a:buNone/>
            </a:pPr>
            <a:r>
              <a:rPr lang="en-US" sz="2600" dirty="0">
                <a:solidFill>
                  <a:srgbClr val="007E39"/>
                </a:solidFill>
              </a:rPr>
              <a:t>Limitations Constraints and Assumptions</a:t>
            </a:r>
          </a:p>
          <a:p>
            <a:r>
              <a:rPr lang="en-US" b="1" dirty="0"/>
              <a:t>Limitations (Out of Scope)</a:t>
            </a:r>
          </a:p>
          <a:p>
            <a:r>
              <a:rPr lang="en-US" dirty="0"/>
              <a:t>No connection to live </a:t>
            </a:r>
            <a:r>
              <a:rPr lang="en-US" dirty="0" err="1"/>
              <a:t>PlayStayTion</a:t>
            </a:r>
            <a:r>
              <a:rPr lang="en-US" dirty="0"/>
              <a:t> systems (e.g., </a:t>
            </a:r>
            <a:r>
              <a:rPr lang="en-US" dirty="0" err="1"/>
              <a:t>ProPet</a:t>
            </a:r>
            <a:r>
              <a:rPr lang="en-US" dirty="0"/>
              <a:t>, CRM, booking database)</a:t>
            </a:r>
          </a:p>
          <a:p>
            <a:r>
              <a:rPr lang="en-US" dirty="0"/>
              <a:t>No use of real customer data—only synthetic or anonymized examples</a:t>
            </a:r>
          </a:p>
          <a:p>
            <a:r>
              <a:rPr lang="en-US" dirty="0"/>
              <a:t>The project does not automate phone calls or live chat (future phases)</a:t>
            </a:r>
          </a:p>
          <a:p>
            <a:r>
              <a:rPr lang="en-US" b="1" dirty="0"/>
              <a:t>Constraints</a:t>
            </a:r>
          </a:p>
          <a:p>
            <a:r>
              <a:rPr lang="en-US" dirty="0"/>
              <a:t>Must operate within free or low-cost tiers of n8n, Gmail API, and OpenAI</a:t>
            </a:r>
          </a:p>
          <a:p>
            <a:r>
              <a:rPr lang="en-US" dirty="0"/>
              <a:t>Must remain safe for academic use with manual staff approval for all outgoing emails</a:t>
            </a:r>
          </a:p>
          <a:p>
            <a:r>
              <a:rPr lang="en-US" dirty="0"/>
              <a:t>Limited time scope: one semester to design, build, and test the prototype</a:t>
            </a:r>
          </a:p>
          <a:p>
            <a:r>
              <a:rPr lang="en-US" dirty="0"/>
              <a:t>No external production deployment or customer-facing usage</a:t>
            </a:r>
          </a:p>
          <a:p>
            <a:r>
              <a:rPr lang="en-US" b="1" dirty="0"/>
              <a:t>Assumptions</a:t>
            </a:r>
          </a:p>
          <a:p>
            <a:r>
              <a:rPr lang="en-US" dirty="0"/>
              <a:t>Staff will continue manually reviewing all AI-generated drafts before sending</a:t>
            </a:r>
          </a:p>
          <a:p>
            <a:r>
              <a:rPr lang="en-US" dirty="0"/>
              <a:t>The workflow built for email classification and extraction can be extended to voice or chat in the future</a:t>
            </a:r>
          </a:p>
          <a:p>
            <a:r>
              <a:rPr lang="en-US" dirty="0"/>
              <a:t>Synthetic email data adequately represents real customer inquiries</a:t>
            </a:r>
          </a:p>
          <a:p>
            <a:r>
              <a:rPr lang="en-US" dirty="0"/>
              <a:t>The client prefers a scalable solution that can grow into a multi-channel AI assistant</a:t>
            </a:r>
          </a:p>
        </p:txBody>
      </p:sp>
      <p:graphicFrame>
        <p:nvGraphicFramePr>
          <p:cNvPr id="8" name="Table 7">
            <a:extLst>
              <a:ext uri="{FF2B5EF4-FFF2-40B4-BE49-F238E27FC236}">
                <a16:creationId xmlns:a16="http://schemas.microsoft.com/office/drawing/2014/main" id="{7CE3C370-47CE-5002-A885-341BA4BAC030}"/>
              </a:ext>
            </a:extLst>
          </p:cNvPr>
          <p:cNvGraphicFramePr>
            <a:graphicFrameLocks noGrp="1"/>
          </p:cNvGraphicFramePr>
          <p:nvPr>
            <p:extLst>
              <p:ext uri="{D42A27DB-BD31-4B8C-83A1-F6EECF244321}">
                <p14:modId xmlns:p14="http://schemas.microsoft.com/office/powerpoint/2010/main" val="1050529011"/>
              </p:ext>
            </p:extLst>
          </p:nvPr>
        </p:nvGraphicFramePr>
        <p:xfrm>
          <a:off x="311895" y="3721189"/>
          <a:ext cx="6234209" cy="2057400"/>
        </p:xfrm>
        <a:graphic>
          <a:graphicData uri="http://schemas.openxmlformats.org/drawingml/2006/table">
            <a:tbl>
              <a:tblPr firstRow="1" bandRow="1">
                <a:tableStyleId>{5940675A-B579-460E-94D1-54222C63F5DA}</a:tableStyleId>
              </a:tblPr>
              <a:tblGrid>
                <a:gridCol w="1488060">
                  <a:extLst>
                    <a:ext uri="{9D8B030D-6E8A-4147-A177-3AD203B41FA5}">
                      <a16:colId xmlns:a16="http://schemas.microsoft.com/office/drawing/2014/main" val="715890982"/>
                    </a:ext>
                  </a:extLst>
                </a:gridCol>
                <a:gridCol w="3581074">
                  <a:extLst>
                    <a:ext uri="{9D8B030D-6E8A-4147-A177-3AD203B41FA5}">
                      <a16:colId xmlns:a16="http://schemas.microsoft.com/office/drawing/2014/main" val="1073287030"/>
                    </a:ext>
                  </a:extLst>
                </a:gridCol>
                <a:gridCol w="1165075">
                  <a:extLst>
                    <a:ext uri="{9D8B030D-6E8A-4147-A177-3AD203B41FA5}">
                      <a16:colId xmlns:a16="http://schemas.microsoft.com/office/drawing/2014/main" val="971767332"/>
                    </a:ext>
                  </a:extLst>
                </a:gridCol>
              </a:tblGrid>
              <a:tr h="217694">
                <a:tc>
                  <a:txBody>
                    <a:bodyPr/>
                    <a:lstStyle/>
                    <a:p>
                      <a:r>
                        <a:rPr lang="en-US" sz="1100" dirty="0"/>
                        <a:t>Deliverable Name</a:t>
                      </a:r>
                    </a:p>
                  </a:txBody>
                  <a:tcPr anchor="ctr">
                    <a:solidFill>
                      <a:schemeClr val="bg1">
                        <a:lumMod val="95000"/>
                      </a:schemeClr>
                    </a:solidFill>
                  </a:tcPr>
                </a:tc>
                <a:tc>
                  <a:txBody>
                    <a:bodyPr/>
                    <a:lstStyle/>
                    <a:p>
                      <a:r>
                        <a:rPr lang="en-US" sz="1100" dirty="0"/>
                        <a:t>Deliverable Description </a:t>
                      </a:r>
                    </a:p>
                  </a:txBody>
                  <a:tcPr anchor="ctr">
                    <a:solidFill>
                      <a:schemeClr val="bg1">
                        <a:lumMod val="95000"/>
                      </a:schemeClr>
                    </a:solidFill>
                  </a:tcPr>
                </a:tc>
                <a:tc>
                  <a:txBody>
                    <a:bodyPr/>
                    <a:lstStyle/>
                    <a:p>
                      <a:r>
                        <a:rPr lang="en-US" sz="1100" dirty="0"/>
                        <a:t>Due Date</a:t>
                      </a:r>
                    </a:p>
                  </a:txBody>
                  <a:tcPr anchor="ctr">
                    <a:solidFill>
                      <a:schemeClr val="bg1">
                        <a:lumMod val="95000"/>
                      </a:schemeClr>
                    </a:solidFill>
                  </a:tcPr>
                </a:tc>
                <a:extLst>
                  <a:ext uri="{0D108BD9-81ED-4DB2-BD59-A6C34878D82A}">
                    <a16:rowId xmlns:a16="http://schemas.microsoft.com/office/drawing/2014/main" val="4129423804"/>
                  </a:ext>
                </a:extLst>
              </a:tr>
              <a:tr h="499415">
                <a:tc>
                  <a:txBody>
                    <a:bodyPr/>
                    <a:lstStyle/>
                    <a:p>
                      <a:r>
                        <a:rPr lang="en-US" sz="1000" dirty="0"/>
                        <a:t>AI Email Assistant Prototype</a:t>
                      </a:r>
                    </a:p>
                  </a:txBody>
                  <a:tcPr anchor="ctr"/>
                </a:tc>
                <a:tc>
                  <a:txBody>
                    <a:bodyPr/>
                    <a:lstStyle/>
                    <a:p>
                      <a:r>
                        <a:rPr lang="en-US" sz="1000" dirty="0"/>
                        <a:t>Fully functional n8n workflow with Gmail trigger, OpenAI nodes, guardrail logic, automated response drafting, and label routing. Includes screenshots and sample outputs.</a:t>
                      </a:r>
                    </a:p>
                  </a:txBody>
                  <a:tcPr anchor="ctr"/>
                </a:tc>
                <a:tc>
                  <a:txBody>
                    <a:bodyPr/>
                    <a:lstStyle/>
                    <a:p>
                      <a:r>
                        <a:rPr lang="en-US" sz="1000" dirty="0"/>
                        <a:t>Dec 2</a:t>
                      </a:r>
                    </a:p>
                  </a:txBody>
                  <a:tcPr anchor="ctr"/>
                </a:tc>
                <a:extLst>
                  <a:ext uri="{0D108BD9-81ED-4DB2-BD59-A6C34878D82A}">
                    <a16:rowId xmlns:a16="http://schemas.microsoft.com/office/drawing/2014/main" val="3070719943"/>
                  </a:ext>
                </a:extLst>
              </a:tr>
              <a:tr h="640276">
                <a:tc>
                  <a:txBody>
                    <a:bodyPr/>
                    <a:lstStyle/>
                    <a:p>
                      <a:r>
                        <a:rPr lang="en-US" sz="1000" dirty="0"/>
                        <a:t>Final Project Report</a:t>
                      </a:r>
                    </a:p>
                  </a:txBody>
                  <a:tcPr anchor="ctr"/>
                </a:tc>
                <a:tc>
                  <a:txBody>
                    <a:bodyPr/>
                    <a:lstStyle/>
                    <a:p>
                      <a:r>
                        <a:rPr lang="en-US" sz="1000" dirty="0"/>
                        <a:t>Comprehensive report summarizing client needs, technical design, prototype implementation, cost analysis, and future recommendations. Includes appendices with workflow screenshots and code.</a:t>
                      </a:r>
                    </a:p>
                  </a:txBody>
                  <a:tcPr anchor="ctr"/>
                </a:tc>
                <a:tc>
                  <a:txBody>
                    <a:bodyPr/>
                    <a:lstStyle/>
                    <a:p>
                      <a:pPr marL="0" marR="0" lvl="0" indent="0" algn="l" defTabSz="217004" rtl="0" eaLnBrk="1" fontAlgn="auto" latinLnBrk="0" hangingPunct="1">
                        <a:lnSpc>
                          <a:spcPct val="100000"/>
                        </a:lnSpc>
                        <a:spcBef>
                          <a:spcPts val="0"/>
                        </a:spcBef>
                        <a:spcAft>
                          <a:spcPts val="0"/>
                        </a:spcAft>
                        <a:buClrTx/>
                        <a:buSzTx/>
                        <a:buFontTx/>
                        <a:buNone/>
                        <a:tabLst/>
                        <a:defRPr/>
                      </a:pPr>
                      <a:r>
                        <a:rPr lang="en-US" sz="1000" dirty="0"/>
                        <a:t>Dec 2 </a:t>
                      </a:r>
                    </a:p>
                    <a:p>
                      <a:endParaRPr lang="en-US" sz="1000" dirty="0"/>
                    </a:p>
                  </a:txBody>
                  <a:tcPr anchor="ctr"/>
                </a:tc>
                <a:extLst>
                  <a:ext uri="{0D108BD9-81ED-4DB2-BD59-A6C34878D82A}">
                    <a16:rowId xmlns:a16="http://schemas.microsoft.com/office/drawing/2014/main" val="611309372"/>
                  </a:ext>
                </a:extLst>
              </a:tr>
              <a:tr h="353190">
                <a:tc>
                  <a:txBody>
                    <a:bodyPr/>
                    <a:lstStyle/>
                    <a:p>
                      <a:r>
                        <a:rPr lang="en-US" sz="1000" dirty="0"/>
                        <a:t>Presentation PPT</a:t>
                      </a:r>
                    </a:p>
                  </a:txBody>
                  <a:tcPr anchor="ctr"/>
                </a:tc>
                <a:tc>
                  <a:txBody>
                    <a:bodyPr/>
                    <a:lstStyle/>
                    <a:p>
                      <a:r>
                        <a:rPr lang="en-US" sz="1000" dirty="0"/>
                        <a:t>Live demo of the prototype, explanation of the AI workflow, business value, and potential roadmap toward voice and chat integration.</a:t>
                      </a:r>
                    </a:p>
                  </a:txBody>
                  <a:tcPr anchor="ctr"/>
                </a:tc>
                <a:tc>
                  <a:txBody>
                    <a:bodyPr/>
                    <a:lstStyle/>
                    <a:p>
                      <a:pPr marL="0" marR="0" lvl="0" indent="0" algn="l" defTabSz="217004" rtl="0" eaLnBrk="1" fontAlgn="auto" latinLnBrk="0" hangingPunct="1">
                        <a:lnSpc>
                          <a:spcPct val="100000"/>
                        </a:lnSpc>
                        <a:spcBef>
                          <a:spcPts val="0"/>
                        </a:spcBef>
                        <a:spcAft>
                          <a:spcPts val="0"/>
                        </a:spcAft>
                        <a:buClrTx/>
                        <a:buSzTx/>
                        <a:buFontTx/>
                        <a:buNone/>
                        <a:tabLst/>
                        <a:defRPr/>
                      </a:pPr>
                      <a:r>
                        <a:rPr lang="en-US" sz="1000" dirty="0"/>
                        <a:t>Dec 2</a:t>
                      </a:r>
                    </a:p>
                    <a:p>
                      <a:endParaRPr lang="en-US" sz="1000" dirty="0"/>
                    </a:p>
                  </a:txBody>
                  <a:tcPr anchor="ctr"/>
                </a:tc>
                <a:extLst>
                  <a:ext uri="{0D108BD9-81ED-4DB2-BD59-A6C34878D82A}">
                    <a16:rowId xmlns:a16="http://schemas.microsoft.com/office/drawing/2014/main" val="543077518"/>
                  </a:ext>
                </a:extLst>
              </a:tr>
            </a:tbl>
          </a:graphicData>
        </a:graphic>
      </p:graphicFrame>
    </p:spTree>
    <p:extLst>
      <p:ext uri="{BB962C8B-B14F-4D97-AF65-F5344CB8AC3E}">
        <p14:creationId xmlns:p14="http://schemas.microsoft.com/office/powerpoint/2010/main" val="2947119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6D55-EA78-B530-6314-99FA9A159A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50605D0-D1FB-2AF6-A264-C8A123914473}"/>
              </a:ext>
            </a:extLst>
          </p:cNvPr>
          <p:cNvSpPr>
            <a:spLocks noGrp="1"/>
          </p:cNvSpPr>
          <p:nvPr>
            <p:ph type="ctrTitle"/>
          </p:nvPr>
        </p:nvSpPr>
        <p:spPr/>
        <p:txBody>
          <a:bodyPr/>
          <a:lstStyle/>
          <a:p>
            <a:r>
              <a:rPr lang="en-US" dirty="0"/>
              <a:t>PROJECT APPROACH</a:t>
            </a:r>
          </a:p>
        </p:txBody>
      </p:sp>
      <p:sp>
        <p:nvSpPr>
          <p:cNvPr id="4" name="Footer Placeholder 3">
            <a:extLst>
              <a:ext uri="{FF2B5EF4-FFF2-40B4-BE49-F238E27FC236}">
                <a16:creationId xmlns:a16="http://schemas.microsoft.com/office/drawing/2014/main" id="{2BA97386-AD45-7D1E-A56D-E84671E0C8B2}"/>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2929910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A56138-D421-543A-B8E7-81023A9E9B64}"/>
              </a:ext>
            </a:extLst>
          </p:cNvPr>
          <p:cNvSpPr>
            <a:spLocks noGrp="1"/>
          </p:cNvSpPr>
          <p:nvPr>
            <p:ph type="title"/>
          </p:nvPr>
        </p:nvSpPr>
        <p:spPr/>
        <p:txBody>
          <a:bodyPr/>
          <a:lstStyle/>
          <a:p>
            <a:r>
              <a:rPr lang="en-US" dirty="0"/>
              <a:t>Project Approach</a:t>
            </a:r>
          </a:p>
        </p:txBody>
      </p:sp>
      <p:sp>
        <p:nvSpPr>
          <p:cNvPr id="8" name="Content Placeholder 7">
            <a:extLst>
              <a:ext uri="{FF2B5EF4-FFF2-40B4-BE49-F238E27FC236}">
                <a16:creationId xmlns:a16="http://schemas.microsoft.com/office/drawing/2014/main" id="{0B453A95-7242-91C6-0419-FFABBD545FC5}"/>
              </a:ext>
            </a:extLst>
          </p:cNvPr>
          <p:cNvSpPr>
            <a:spLocks noGrp="1"/>
          </p:cNvSpPr>
          <p:nvPr>
            <p:ph idx="1"/>
          </p:nvPr>
        </p:nvSpPr>
        <p:spPr>
          <a:xfrm>
            <a:off x="255415" y="800100"/>
            <a:ext cx="6333827" cy="2920746"/>
          </a:xfrm>
        </p:spPr>
        <p:txBody>
          <a:bodyPr/>
          <a:lstStyle/>
          <a:p>
            <a:pPr marL="0" indent="0">
              <a:buNone/>
            </a:pPr>
            <a:r>
              <a:rPr lang="en-US" dirty="0">
                <a:solidFill>
                  <a:srgbClr val="007E39"/>
                </a:solidFill>
              </a:rPr>
              <a:t>Why Agentic AI</a:t>
            </a:r>
          </a:p>
          <a:p>
            <a:pPr marL="0" indent="0">
              <a:buNone/>
            </a:pPr>
            <a:r>
              <a:rPr lang="en-US" sz="1100" dirty="0"/>
              <a:t>Agentic AI is well-suited for </a:t>
            </a:r>
            <a:r>
              <a:rPr lang="en-US" sz="1100" dirty="0" err="1"/>
              <a:t>PlayStayTion’s</a:t>
            </a:r>
            <a:r>
              <a:rPr lang="en-US" sz="1100" dirty="0"/>
              <a:t> communication needs because it goes beyond single-response generation and instead enables </a:t>
            </a:r>
            <a:r>
              <a:rPr lang="en-US" sz="1100" b="1" dirty="0"/>
              <a:t>goal-oriented, multi-step reasoning</a:t>
            </a:r>
            <a:r>
              <a:rPr lang="en-US" sz="1100" dirty="0"/>
              <a:t>. Unlike simple chatbots, an agentic system can take actions, call tools, follow workflow logic, apply guardrails, and cooperate with other specialized agents to complete a task from start to finish.</a:t>
            </a:r>
          </a:p>
          <a:p>
            <a:r>
              <a:rPr lang="en-US" sz="1100" dirty="0"/>
              <a:t>For this project, agentic AI allows the system to:</a:t>
            </a:r>
          </a:p>
          <a:p>
            <a:r>
              <a:rPr lang="en-US" sz="1100" dirty="0"/>
              <a:t>Understand customer emails using intent classification</a:t>
            </a:r>
          </a:p>
          <a:p>
            <a:r>
              <a:rPr lang="en-US" sz="1100" dirty="0"/>
              <a:t>Extract key booking details using structured reasoning</a:t>
            </a:r>
          </a:p>
          <a:p>
            <a:r>
              <a:rPr lang="en-US" sz="1100" dirty="0"/>
              <a:t>Apply rules and safety checks before drafting responses</a:t>
            </a:r>
          </a:p>
          <a:p>
            <a:r>
              <a:rPr lang="en-US" sz="1100" dirty="0"/>
              <a:t>Generate consistent, brand-aligned replies</a:t>
            </a:r>
          </a:p>
          <a:p>
            <a:r>
              <a:rPr lang="en-US" sz="1100" dirty="0"/>
              <a:t>Escalate special cases to staff when needed</a:t>
            </a:r>
          </a:p>
          <a:p>
            <a:r>
              <a:rPr lang="en-US" sz="1100" dirty="0"/>
              <a:t>Coordinate multiple AI components within a workflow</a:t>
            </a:r>
          </a:p>
          <a:p>
            <a:pPr marL="0" indent="0">
              <a:buNone/>
            </a:pPr>
            <a:r>
              <a:rPr lang="en-US" sz="1100" dirty="0"/>
              <a:t>This modular, decision-driven approach creates a reliable foundation for future expansion into </a:t>
            </a:r>
            <a:r>
              <a:rPr lang="en-US" sz="1100" b="1" dirty="0"/>
              <a:t>voice assistants, chatbots, and automated booking tools</a:t>
            </a:r>
            <a:r>
              <a:rPr lang="en-US" sz="1100" dirty="0"/>
              <a:t>, ensuring the system can grow as </a:t>
            </a:r>
            <a:r>
              <a:rPr lang="en-US" sz="1100" dirty="0" err="1"/>
              <a:t>PlayStayTion’s</a:t>
            </a:r>
            <a:r>
              <a:rPr lang="en-US" sz="1100" dirty="0"/>
              <a:t> communication needs evolve.</a:t>
            </a:r>
          </a:p>
          <a:p>
            <a:pPr marL="0" indent="0">
              <a:buNone/>
            </a:pPr>
            <a:endParaRPr lang="en-US" dirty="0">
              <a:solidFill>
                <a:srgbClr val="007E39"/>
              </a:solidFill>
            </a:endParaRPr>
          </a:p>
        </p:txBody>
      </p:sp>
      <p:sp>
        <p:nvSpPr>
          <p:cNvPr id="4" name="Footer Placeholder 3">
            <a:extLst>
              <a:ext uri="{FF2B5EF4-FFF2-40B4-BE49-F238E27FC236}">
                <a16:creationId xmlns:a16="http://schemas.microsoft.com/office/drawing/2014/main" id="{E8DCFFCD-8CEB-BA4E-51A6-9E9585BF4EF7}"/>
              </a:ext>
            </a:extLst>
          </p:cNvPr>
          <p:cNvSpPr>
            <a:spLocks noGrp="1"/>
          </p:cNvSpPr>
          <p:nvPr>
            <p:ph type="ftr" sz="quarter" idx="11"/>
          </p:nvPr>
        </p:nvSpPr>
        <p:spPr/>
        <p:txBody>
          <a:bodyPr/>
          <a:lstStyle/>
          <a:p>
            <a:r>
              <a:rPr lang="sv-SE"/>
              <a:t>© 2025, Anna Sidorova, UNT. BCIS5140 - Project Report Boilerplate</a:t>
            </a:r>
            <a:endParaRPr lang="en-US" dirty="0"/>
          </a:p>
        </p:txBody>
      </p:sp>
      <p:sp>
        <p:nvSpPr>
          <p:cNvPr id="9" name="Content Placeholder 8">
            <a:extLst>
              <a:ext uri="{FF2B5EF4-FFF2-40B4-BE49-F238E27FC236}">
                <a16:creationId xmlns:a16="http://schemas.microsoft.com/office/drawing/2014/main" id="{2AFFC6D2-EA6B-0847-A928-BA5BAF6A6D0A}"/>
              </a:ext>
            </a:extLst>
          </p:cNvPr>
          <p:cNvSpPr>
            <a:spLocks noGrp="1"/>
          </p:cNvSpPr>
          <p:nvPr>
            <p:ph idx="13"/>
          </p:nvPr>
        </p:nvSpPr>
        <p:spPr>
          <a:xfrm>
            <a:off x="268758" y="3720846"/>
            <a:ext cx="6333827" cy="3655314"/>
          </a:xfrm>
        </p:spPr>
        <p:txBody>
          <a:bodyPr>
            <a:normAutofit/>
          </a:bodyPr>
          <a:lstStyle/>
          <a:p>
            <a:pPr marL="0" indent="0">
              <a:buNone/>
            </a:pPr>
            <a:r>
              <a:rPr lang="en-US" dirty="0">
                <a:solidFill>
                  <a:srgbClr val="007E39"/>
                </a:solidFill>
              </a:rPr>
              <a:t>Agentic AI Architectures</a:t>
            </a:r>
          </a:p>
          <a:p>
            <a:pPr marL="0" indent="0">
              <a:buNone/>
            </a:pPr>
            <a:r>
              <a:rPr lang="en-US" sz="1100" dirty="0"/>
              <a:t>Our prototype uses a </a:t>
            </a:r>
            <a:r>
              <a:rPr lang="en-US" sz="1100" b="1" dirty="0"/>
              <a:t>modular multi-agent architecture</a:t>
            </a:r>
            <a:r>
              <a:rPr lang="en-US" sz="1100" dirty="0"/>
              <a:t> implemented inside n8n. Each agent performs a specific part of the workflow:</a:t>
            </a:r>
          </a:p>
          <a:p>
            <a:pPr marL="0" indent="0">
              <a:buNone/>
            </a:pPr>
            <a:r>
              <a:rPr lang="en-US" sz="1100" b="1" dirty="0"/>
              <a:t>Classifier Agent</a:t>
            </a:r>
          </a:p>
          <a:p>
            <a:pPr marL="0" indent="0">
              <a:buNone/>
            </a:pPr>
            <a:r>
              <a:rPr lang="en-US" sz="1100" dirty="0"/>
              <a:t>Determines the intent of the email (Boarding, Daycare, Grooming, Training, Pet Taxi, Cancellation, General, Unknown).</a:t>
            </a:r>
          </a:p>
          <a:p>
            <a:pPr marL="0" indent="0">
              <a:buNone/>
            </a:pPr>
            <a:r>
              <a:rPr lang="en-US" sz="1100" b="1" dirty="0"/>
              <a:t>Extractor Agent</a:t>
            </a:r>
          </a:p>
          <a:p>
            <a:pPr marL="0" indent="0">
              <a:buNone/>
            </a:pPr>
            <a:r>
              <a:rPr lang="en-US" sz="1100" dirty="0"/>
              <a:t>Extracts structured details like pet name, service type, requested dates, and city (for Pet Taxi).</a:t>
            </a:r>
            <a:br>
              <a:rPr lang="en-US" sz="1100" dirty="0"/>
            </a:br>
            <a:r>
              <a:rPr lang="en-US" sz="1100" dirty="0"/>
              <a:t>Outputs a JSON record used for routing.</a:t>
            </a:r>
          </a:p>
          <a:p>
            <a:pPr marL="0" indent="0">
              <a:buNone/>
            </a:pPr>
            <a:r>
              <a:rPr lang="en-US" sz="1100" b="1" dirty="0"/>
              <a:t>Guardrails Agent</a:t>
            </a:r>
          </a:p>
          <a:p>
            <a:pPr marL="0" indent="0">
              <a:buNone/>
            </a:pPr>
            <a:r>
              <a:rPr lang="en-US" sz="1100" dirty="0"/>
              <a:t>A rule-based decision layer (implemented with n8n code + switch logic) that identifies missing details, low confidence, medical flags, or unusual requests.</a:t>
            </a:r>
            <a:br>
              <a:rPr lang="en-US" sz="1100" dirty="0"/>
            </a:br>
            <a:r>
              <a:rPr lang="en-US" sz="1100" dirty="0"/>
              <a:t>Decides whether to draft a reply or escalate to staff.</a:t>
            </a:r>
          </a:p>
          <a:p>
            <a:pPr marL="0" indent="0">
              <a:buNone/>
            </a:pPr>
            <a:r>
              <a:rPr lang="en-US" sz="1100" b="1" dirty="0"/>
              <a:t>Reply Writer Agent</a:t>
            </a:r>
          </a:p>
          <a:p>
            <a:pPr marL="0" indent="0">
              <a:buNone/>
            </a:pPr>
            <a:r>
              <a:rPr lang="en-US" sz="1100" dirty="0"/>
              <a:t>Uses OpenAI to generate a concise, friendly, brand-safe draft email that asks for only missing details or provides the correct next steps (such as directing to </a:t>
            </a:r>
            <a:r>
              <a:rPr lang="en-US" sz="1100" dirty="0" err="1"/>
              <a:t>ProPet</a:t>
            </a:r>
            <a:r>
              <a:rPr lang="en-US" sz="1100" dirty="0"/>
              <a:t>).</a:t>
            </a:r>
          </a:p>
          <a:p>
            <a:pPr marL="0" indent="0">
              <a:buNone/>
            </a:pPr>
            <a:r>
              <a:rPr lang="en-US" sz="1100" b="1" dirty="0"/>
              <a:t>Orchestrator (n8n Workflow)</a:t>
            </a:r>
          </a:p>
          <a:p>
            <a:pPr marL="0" indent="0">
              <a:buNone/>
            </a:pPr>
            <a:r>
              <a:rPr lang="en-US" sz="1100" dirty="0"/>
              <a:t>Controls the entire pipeline—trigger, message retrieval, agent calls, switch routing, Gmail draft creation, and email labeling.</a:t>
            </a:r>
            <a:br>
              <a:rPr lang="en-US" sz="1100" dirty="0"/>
            </a:br>
            <a:r>
              <a:rPr lang="en-US" sz="1100" dirty="0"/>
              <a:t>Keeps the system human-in-the-loop with staff reviewing all drafts.</a:t>
            </a:r>
          </a:p>
        </p:txBody>
      </p:sp>
    </p:spTree>
    <p:extLst>
      <p:ext uri="{BB962C8B-B14F-4D97-AF65-F5344CB8AC3E}">
        <p14:creationId xmlns:p14="http://schemas.microsoft.com/office/powerpoint/2010/main" val="30709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C6DFA-0B4E-A7AB-0D72-AF549B4736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521D81-3959-EFC9-EA64-76C78A19FB60}"/>
              </a:ext>
            </a:extLst>
          </p:cNvPr>
          <p:cNvSpPr>
            <a:spLocks noGrp="1"/>
          </p:cNvSpPr>
          <p:nvPr>
            <p:ph type="title"/>
          </p:nvPr>
        </p:nvSpPr>
        <p:spPr/>
        <p:txBody>
          <a:bodyPr/>
          <a:lstStyle/>
          <a:p>
            <a:r>
              <a:rPr lang="en-US" dirty="0"/>
              <a:t>Project Approach cont’d</a:t>
            </a:r>
          </a:p>
        </p:txBody>
      </p:sp>
      <p:sp>
        <p:nvSpPr>
          <p:cNvPr id="8" name="Content Placeholder 7">
            <a:extLst>
              <a:ext uri="{FF2B5EF4-FFF2-40B4-BE49-F238E27FC236}">
                <a16:creationId xmlns:a16="http://schemas.microsoft.com/office/drawing/2014/main" id="{12EBE307-57DB-433C-E5A6-4A9D6015B7D4}"/>
              </a:ext>
            </a:extLst>
          </p:cNvPr>
          <p:cNvSpPr>
            <a:spLocks noGrp="1"/>
          </p:cNvSpPr>
          <p:nvPr>
            <p:ph idx="1"/>
          </p:nvPr>
        </p:nvSpPr>
        <p:spPr>
          <a:xfrm>
            <a:off x="255415" y="800100"/>
            <a:ext cx="6333827" cy="2957322"/>
          </a:xfrm>
        </p:spPr>
        <p:txBody>
          <a:bodyPr>
            <a:normAutofit/>
          </a:bodyPr>
          <a:lstStyle/>
          <a:p>
            <a:pPr marL="0" indent="0">
              <a:buNone/>
            </a:pPr>
            <a:r>
              <a:rPr lang="en-US" dirty="0">
                <a:solidFill>
                  <a:srgbClr val="007E39"/>
                </a:solidFill>
              </a:rPr>
              <a:t>Data sources and integration requirements</a:t>
            </a:r>
          </a:p>
          <a:p>
            <a:pPr marL="0" indent="0">
              <a:buNone/>
            </a:pPr>
            <a:r>
              <a:rPr lang="en-US" sz="1100" dirty="0"/>
              <a:t>The prototype uses minimal, safe, and fully controlled data sources to ensure privacy and simplicity within a classroom environment.</a:t>
            </a:r>
            <a:br>
              <a:rPr lang="en-US" sz="1100" dirty="0"/>
            </a:br>
            <a:r>
              <a:rPr lang="en-US" sz="1100" dirty="0"/>
              <a:t>The system integrates:</a:t>
            </a:r>
          </a:p>
          <a:p>
            <a:pPr marL="0" indent="0">
              <a:buNone/>
            </a:pPr>
            <a:r>
              <a:rPr lang="en-US" sz="1100" b="1" dirty="0"/>
              <a:t>Gmail API:</a:t>
            </a:r>
            <a:br>
              <a:rPr lang="en-US" sz="1100" dirty="0"/>
            </a:br>
            <a:r>
              <a:rPr lang="en-US" sz="1100" dirty="0"/>
              <a:t>Receives incoming customer emails and sends AI-generated draft replies.</a:t>
            </a:r>
            <a:br>
              <a:rPr lang="en-US" sz="1100" dirty="0"/>
            </a:br>
            <a:r>
              <a:rPr lang="en-US" sz="1100" dirty="0"/>
              <a:t>Integration requires read, metadata, and send permissions.</a:t>
            </a:r>
          </a:p>
          <a:p>
            <a:pPr marL="0" indent="0">
              <a:buNone/>
            </a:pPr>
            <a:r>
              <a:rPr lang="en-US" sz="1100" b="1" dirty="0"/>
              <a:t>OpenAI Message Models:</a:t>
            </a:r>
            <a:br>
              <a:rPr lang="en-US" sz="1100" dirty="0"/>
            </a:br>
            <a:r>
              <a:rPr lang="en-US" sz="1100" dirty="0"/>
              <a:t>Used for intent classification, entity extraction, and generating draft responses.</a:t>
            </a:r>
            <a:br>
              <a:rPr lang="en-US" sz="1100" dirty="0"/>
            </a:br>
            <a:r>
              <a:rPr lang="en-US" sz="1100" dirty="0"/>
              <a:t>Integration is handled through n8n credentials with API keys stored securely.</a:t>
            </a:r>
          </a:p>
          <a:p>
            <a:pPr marL="0" indent="0">
              <a:buNone/>
            </a:pPr>
            <a:r>
              <a:rPr lang="en-US" sz="1100" b="1" dirty="0"/>
              <a:t>n8n Workflow Engine:</a:t>
            </a:r>
            <a:br>
              <a:rPr lang="en-US" sz="1100" dirty="0"/>
            </a:br>
            <a:r>
              <a:rPr lang="en-US" sz="1100" dirty="0"/>
              <a:t>Acts as the orchestrator connecting Gmail, OpenAI nodes, switch logic, and guardrail rules.</a:t>
            </a:r>
            <a:br>
              <a:rPr lang="en-US" sz="1100" dirty="0"/>
            </a:br>
            <a:r>
              <a:rPr lang="en-US" sz="1100" dirty="0"/>
              <a:t>No external databases or customer systems are accessed.</a:t>
            </a:r>
          </a:p>
          <a:p>
            <a:pPr marL="0" indent="0">
              <a:buNone/>
            </a:pPr>
            <a:r>
              <a:rPr lang="en-US" sz="1100" b="1" dirty="0"/>
              <a:t>Synthetic Email Dataset (Optional):</a:t>
            </a:r>
            <a:br>
              <a:rPr lang="en-US" sz="1100" dirty="0"/>
            </a:br>
            <a:r>
              <a:rPr lang="en-US" sz="1100" dirty="0"/>
              <a:t>A small set of fabricated examples used for testing classification and extraction accuracy.</a:t>
            </a:r>
          </a:p>
          <a:p>
            <a:pPr marL="0" indent="0">
              <a:buNone/>
            </a:pPr>
            <a:r>
              <a:rPr lang="en-US" sz="1100" dirty="0"/>
              <a:t>No access to </a:t>
            </a:r>
            <a:r>
              <a:rPr lang="en-US" sz="1100" dirty="0" err="1"/>
              <a:t>PlayStayTion’s</a:t>
            </a:r>
            <a:r>
              <a:rPr lang="en-US" sz="1100" dirty="0"/>
              <a:t> live </a:t>
            </a:r>
            <a:r>
              <a:rPr lang="en-US" sz="1100" dirty="0" err="1"/>
              <a:t>ProPet</a:t>
            </a:r>
            <a:r>
              <a:rPr lang="en-US" sz="1100" dirty="0"/>
              <a:t>, CRM, or payment systems is required or used.</a:t>
            </a:r>
            <a:br>
              <a:rPr lang="en-US" sz="1100" dirty="0"/>
            </a:br>
            <a:r>
              <a:rPr lang="en-US" sz="1100" dirty="0"/>
              <a:t>This ensures the prototype is safe, isolated, and compliant with academic requirements.</a:t>
            </a:r>
          </a:p>
          <a:p>
            <a:pPr marL="0" indent="0">
              <a:buNone/>
            </a:pPr>
            <a:endParaRPr lang="en-US" dirty="0">
              <a:solidFill>
                <a:srgbClr val="007E39"/>
              </a:solidFill>
            </a:endParaRPr>
          </a:p>
        </p:txBody>
      </p:sp>
      <p:sp>
        <p:nvSpPr>
          <p:cNvPr id="4" name="Footer Placeholder 3">
            <a:extLst>
              <a:ext uri="{FF2B5EF4-FFF2-40B4-BE49-F238E27FC236}">
                <a16:creationId xmlns:a16="http://schemas.microsoft.com/office/drawing/2014/main" id="{1090A554-5432-F098-551F-47441458CC08}"/>
              </a:ext>
            </a:extLst>
          </p:cNvPr>
          <p:cNvSpPr>
            <a:spLocks noGrp="1"/>
          </p:cNvSpPr>
          <p:nvPr>
            <p:ph type="ftr" sz="quarter" idx="11"/>
          </p:nvPr>
        </p:nvSpPr>
        <p:spPr/>
        <p:txBody>
          <a:bodyPr/>
          <a:lstStyle/>
          <a:p>
            <a:r>
              <a:rPr lang="sv-SE"/>
              <a:t>© 2025, Anna Sidorova, UNT. BCIS5140 - Project Report Boilerplate</a:t>
            </a:r>
            <a:endParaRPr lang="en-US" dirty="0"/>
          </a:p>
        </p:txBody>
      </p:sp>
      <p:sp>
        <p:nvSpPr>
          <p:cNvPr id="9" name="Content Placeholder 8">
            <a:extLst>
              <a:ext uri="{FF2B5EF4-FFF2-40B4-BE49-F238E27FC236}">
                <a16:creationId xmlns:a16="http://schemas.microsoft.com/office/drawing/2014/main" id="{5A8EC246-8295-42F4-3320-6906C85C460A}"/>
              </a:ext>
            </a:extLst>
          </p:cNvPr>
          <p:cNvSpPr>
            <a:spLocks noGrp="1"/>
          </p:cNvSpPr>
          <p:nvPr>
            <p:ph idx="13"/>
          </p:nvPr>
        </p:nvSpPr>
        <p:spPr>
          <a:xfrm>
            <a:off x="268758" y="3757422"/>
            <a:ext cx="6333827" cy="4021074"/>
          </a:xfrm>
        </p:spPr>
        <p:txBody>
          <a:bodyPr>
            <a:normAutofit lnSpcReduction="10000"/>
          </a:bodyPr>
          <a:lstStyle/>
          <a:p>
            <a:pPr marL="0" indent="0">
              <a:buNone/>
            </a:pPr>
            <a:r>
              <a:rPr lang="en-US" dirty="0">
                <a:solidFill>
                  <a:srgbClr val="007E39"/>
                </a:solidFill>
              </a:rPr>
              <a:t>Success metrics and evaluation plan </a:t>
            </a:r>
          </a:p>
          <a:p>
            <a:pPr marL="0" indent="0">
              <a:buNone/>
            </a:pPr>
            <a:r>
              <a:rPr lang="en-US" sz="1100" dirty="0"/>
              <a:t>To evaluate the effectiveness of the AI email assistant, we define the following measurable success metrics:</a:t>
            </a:r>
          </a:p>
          <a:p>
            <a:pPr marL="0" indent="0">
              <a:buNone/>
            </a:pPr>
            <a:r>
              <a:rPr lang="en-US" sz="1100" b="1" dirty="0"/>
              <a:t>1. Intent Classification Accuracy</a:t>
            </a:r>
          </a:p>
          <a:p>
            <a:pPr marL="0" indent="0">
              <a:buNone/>
            </a:pPr>
            <a:r>
              <a:rPr lang="en-US" sz="1100" dirty="0"/>
              <a:t>Percentage of emails correctly categorized into Boarding, Daycare, Grooming, Training, Pet Taxi, Cancellation, General, or Unknown.</a:t>
            </a:r>
            <a:br>
              <a:rPr lang="en-US" sz="1100" dirty="0"/>
            </a:br>
            <a:r>
              <a:rPr lang="en-US" sz="1100" b="1" dirty="0"/>
              <a:t>Target:</a:t>
            </a:r>
            <a:r>
              <a:rPr lang="en-US" sz="1100" dirty="0"/>
              <a:t> ≥ 90% accuracy on synthetic test emails.</a:t>
            </a:r>
          </a:p>
          <a:p>
            <a:pPr marL="0" indent="0">
              <a:buNone/>
            </a:pPr>
            <a:r>
              <a:rPr lang="en-US" sz="1100" b="1" dirty="0"/>
              <a:t>2. Entity Extraction Quality</a:t>
            </a:r>
          </a:p>
          <a:p>
            <a:pPr marL="0" indent="0">
              <a:buNone/>
            </a:pPr>
            <a:r>
              <a:rPr lang="en-US" sz="1100" dirty="0"/>
              <a:t>Accuracy of capturing key fields such as pet name, dates, service type, and location.</a:t>
            </a:r>
            <a:br>
              <a:rPr lang="en-US" sz="1100" dirty="0"/>
            </a:br>
            <a:r>
              <a:rPr lang="en-US" sz="1100" b="1" dirty="0"/>
              <a:t>Target:</a:t>
            </a:r>
            <a:r>
              <a:rPr lang="en-US" sz="1100" dirty="0"/>
              <a:t> ≥ 85% correct extraction with minimal corrections required in review.</a:t>
            </a:r>
          </a:p>
          <a:p>
            <a:pPr marL="0" indent="0">
              <a:buNone/>
            </a:pPr>
            <a:r>
              <a:rPr lang="en-US" sz="1100" b="1" dirty="0"/>
              <a:t>3. Draft Response Quality</a:t>
            </a:r>
          </a:p>
          <a:p>
            <a:pPr marL="0" indent="0">
              <a:buNone/>
            </a:pPr>
            <a:r>
              <a:rPr lang="en-US" sz="1100" dirty="0"/>
              <a:t>Clarity, correctness, and brand alignment of AI-generated drafts as rated by human reviewers.</a:t>
            </a:r>
            <a:br>
              <a:rPr lang="en-US" sz="1100" dirty="0"/>
            </a:br>
            <a:r>
              <a:rPr lang="en-US" sz="1100" b="1" dirty="0"/>
              <a:t>Target:</a:t>
            </a:r>
            <a:r>
              <a:rPr lang="en-US" sz="1100" dirty="0"/>
              <a:t> 4/5 or higher on clarity and professional tone.</a:t>
            </a:r>
          </a:p>
          <a:p>
            <a:pPr marL="0" indent="0">
              <a:buNone/>
            </a:pPr>
            <a:r>
              <a:rPr lang="en-US" sz="1100" b="1" dirty="0"/>
              <a:t>4. Reduction in Manual Effort</a:t>
            </a:r>
          </a:p>
          <a:p>
            <a:pPr marL="0" indent="0">
              <a:buNone/>
            </a:pPr>
            <a:r>
              <a:rPr lang="en-US" sz="1100" dirty="0"/>
              <a:t>Decrease in staff time spent reading, interpreting, and drafting responses for routine emails.</a:t>
            </a:r>
            <a:br>
              <a:rPr lang="en-US" sz="1100" dirty="0"/>
            </a:br>
            <a:r>
              <a:rPr lang="en-US" sz="1100" b="1" dirty="0"/>
              <a:t>Target:</a:t>
            </a:r>
            <a:r>
              <a:rPr lang="en-US" sz="1100" dirty="0"/>
              <a:t> 40–60% reduction for common requests after automation is applied.</a:t>
            </a:r>
          </a:p>
          <a:p>
            <a:pPr marL="0" indent="0">
              <a:buNone/>
            </a:pPr>
            <a:r>
              <a:rPr lang="en-US" sz="1100" b="1" dirty="0"/>
              <a:t>5. Human-in-the-Loop Safety Compliance</a:t>
            </a:r>
          </a:p>
          <a:p>
            <a:pPr marL="0" indent="0">
              <a:buNone/>
            </a:pPr>
            <a:r>
              <a:rPr lang="en-US" sz="1100" dirty="0"/>
              <a:t>All drafts must pass staff review before sending.</a:t>
            </a:r>
            <a:br>
              <a:rPr lang="en-US" sz="1100" dirty="0"/>
            </a:br>
            <a:r>
              <a:rPr lang="en-US" sz="1100" b="1" dirty="0"/>
              <a:t>Target:</a:t>
            </a:r>
            <a:r>
              <a:rPr lang="en-US" sz="1100" dirty="0"/>
              <a:t> 100% emails reviewed, no incorrect automated sends.</a:t>
            </a:r>
          </a:p>
          <a:p>
            <a:pPr marL="0" indent="0">
              <a:buNone/>
            </a:pPr>
            <a:endParaRPr lang="en-US" sz="1100" dirty="0"/>
          </a:p>
          <a:p>
            <a:pPr marL="0" indent="0">
              <a:buNone/>
            </a:pPr>
            <a:r>
              <a:rPr lang="en-US" sz="1100" b="1" dirty="0"/>
              <a:t>Evaluation Plan</a:t>
            </a:r>
          </a:p>
          <a:p>
            <a:r>
              <a:rPr lang="en-US" sz="1100" dirty="0"/>
              <a:t>Test with ~30–40 synthetic emails representing typical customer requests.</a:t>
            </a:r>
          </a:p>
          <a:p>
            <a:r>
              <a:rPr lang="en-US" sz="1100" dirty="0"/>
              <a:t>Measure classification/extraction accuracy and reviewer corrections.</a:t>
            </a:r>
          </a:p>
          <a:p>
            <a:r>
              <a:rPr lang="en-US" sz="1100" dirty="0"/>
              <a:t>Collect feedback from staff on clarity, usefulness, and alignment with the </a:t>
            </a:r>
            <a:r>
              <a:rPr lang="en-US" sz="1100" dirty="0" err="1"/>
              <a:t>PlayStayTion</a:t>
            </a:r>
            <a:r>
              <a:rPr lang="en-US" sz="1100" dirty="0"/>
              <a:t> tone.</a:t>
            </a:r>
          </a:p>
          <a:p>
            <a:r>
              <a:rPr lang="en-US" sz="1100" dirty="0"/>
              <a:t>Document improvements and potential extensions for future voice/chat integration.</a:t>
            </a:r>
          </a:p>
        </p:txBody>
      </p:sp>
    </p:spTree>
    <p:extLst>
      <p:ext uri="{BB962C8B-B14F-4D97-AF65-F5344CB8AC3E}">
        <p14:creationId xmlns:p14="http://schemas.microsoft.com/office/powerpoint/2010/main" val="311956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4983B-BA89-E804-5651-85E4ECB797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185D8C-6727-6789-E477-FB2BC53DD244}"/>
              </a:ext>
            </a:extLst>
          </p:cNvPr>
          <p:cNvSpPr>
            <a:spLocks noGrp="1"/>
          </p:cNvSpPr>
          <p:nvPr>
            <p:ph type="ctrTitle"/>
          </p:nvPr>
        </p:nvSpPr>
        <p:spPr/>
        <p:txBody>
          <a:bodyPr/>
          <a:lstStyle/>
          <a:p>
            <a:r>
              <a:rPr lang="en-US" dirty="0"/>
              <a:t>SOLUTION REQUIREMENTS</a:t>
            </a:r>
          </a:p>
        </p:txBody>
      </p:sp>
      <p:sp>
        <p:nvSpPr>
          <p:cNvPr id="4" name="Footer Placeholder 3">
            <a:extLst>
              <a:ext uri="{FF2B5EF4-FFF2-40B4-BE49-F238E27FC236}">
                <a16:creationId xmlns:a16="http://schemas.microsoft.com/office/drawing/2014/main" id="{C1BC50FB-FEEB-E88C-9ECE-EA1EBDEA93DD}"/>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3815733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lstStyle/>
          <a:p>
            <a:r>
              <a:rPr lang="en-US" dirty="0"/>
              <a:t>Project Stakeholders</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a:bodyPr>
          <a:lstStyle/>
          <a:p>
            <a:pPr marL="0" indent="0">
              <a:buNone/>
            </a:pPr>
            <a:r>
              <a:rPr lang="en-US" sz="1100" b="1" dirty="0"/>
              <a:t>Primary Stakeholders</a:t>
            </a:r>
          </a:p>
          <a:p>
            <a:pPr marL="0" indent="0">
              <a:buNone/>
            </a:pPr>
            <a:r>
              <a:rPr lang="en-US" sz="1100" b="1" dirty="0" err="1"/>
              <a:t>PlayStayTion</a:t>
            </a:r>
            <a:r>
              <a:rPr lang="en-US" sz="1100" b="1" dirty="0"/>
              <a:t> Pet Resort Staff (Front Desk &amp; Reservations Team)</a:t>
            </a:r>
            <a:br>
              <a:rPr lang="en-US" sz="1100" dirty="0"/>
            </a:br>
            <a:r>
              <a:rPr lang="en-US" sz="1100" dirty="0"/>
              <a:t>Will use the AI-generated email drafts, review them, and communicate with customers.</a:t>
            </a:r>
          </a:p>
          <a:p>
            <a:pPr marL="0" indent="0">
              <a:buNone/>
            </a:pPr>
            <a:r>
              <a:rPr lang="en-US" sz="1100" b="1" dirty="0"/>
              <a:t>Vicki Nourse (Owner)</a:t>
            </a:r>
            <a:br>
              <a:rPr lang="en-US" sz="1100" dirty="0"/>
            </a:br>
            <a:r>
              <a:rPr lang="en-US" sz="1100" dirty="0"/>
              <a:t>Decision-maker evaluating the value, safety, and future expansion of the automation.</a:t>
            </a:r>
          </a:p>
          <a:p>
            <a:pPr marL="0" indent="0">
              <a:buNone/>
            </a:pPr>
            <a:br>
              <a:rPr lang="en-US" sz="1100" dirty="0"/>
            </a:br>
            <a:endParaRPr lang="en-US" sz="1100" dirty="0"/>
          </a:p>
          <a:p>
            <a:pPr marL="0" indent="0">
              <a:buNone/>
            </a:pPr>
            <a:r>
              <a:rPr lang="en-US" sz="1100" b="1" dirty="0"/>
              <a:t>Secondary Stakeholders</a:t>
            </a:r>
          </a:p>
          <a:p>
            <a:pPr marL="0" indent="0">
              <a:buNone/>
            </a:pPr>
            <a:r>
              <a:rPr lang="en-US" sz="1100" b="1" dirty="0" err="1"/>
              <a:t>PlayStayTion</a:t>
            </a:r>
            <a:r>
              <a:rPr lang="en-US" sz="1100" b="1" dirty="0"/>
              <a:t> Customers</a:t>
            </a:r>
            <a:br>
              <a:rPr lang="en-US" sz="1100" dirty="0"/>
            </a:br>
            <a:r>
              <a:rPr lang="en-US" sz="1100" dirty="0"/>
              <a:t>Benefit indirectly through faster replies, clearer instructions, and smoother booking experiences.</a:t>
            </a:r>
          </a:p>
          <a:p>
            <a:pPr marL="0" indent="0">
              <a:buNone/>
            </a:pPr>
            <a:r>
              <a:rPr lang="en-US" sz="1100" b="1" dirty="0"/>
              <a:t>Managers &amp; Operations Leads</a:t>
            </a:r>
            <a:br>
              <a:rPr lang="en-US" sz="1100" dirty="0"/>
            </a:br>
            <a:r>
              <a:rPr lang="en-US" sz="1100" dirty="0"/>
              <a:t>Interested in workflow efficiency, reduced workload, and service consistency.</a:t>
            </a:r>
          </a:p>
          <a:p>
            <a:pPr marL="0" indent="0">
              <a:buNone/>
            </a:pPr>
            <a:br>
              <a:rPr lang="en-US" sz="1100" dirty="0"/>
            </a:br>
            <a:endParaRPr lang="en-US" sz="1100" dirty="0"/>
          </a:p>
          <a:p>
            <a:pPr marL="0" indent="0">
              <a:buNone/>
            </a:pPr>
            <a:r>
              <a:rPr lang="en-US" sz="1100" b="1" dirty="0"/>
              <a:t>Project Team (Builders)</a:t>
            </a:r>
          </a:p>
          <a:p>
            <a:pPr marL="0" indent="0">
              <a:buNone/>
            </a:pPr>
            <a:r>
              <a:rPr lang="en-US" sz="1100" b="1" dirty="0"/>
              <a:t>(Team Lead)</a:t>
            </a:r>
            <a:br>
              <a:rPr lang="en-US" sz="1100" dirty="0"/>
            </a:br>
            <a:r>
              <a:rPr lang="en-US" sz="1100" dirty="0"/>
              <a:t>Responsible for coordinating the project, workflow logic, and integration.</a:t>
            </a:r>
            <a:br>
              <a:rPr lang="en-US" sz="1100" dirty="0"/>
            </a:br>
            <a:r>
              <a:rPr lang="en-US" sz="1100" dirty="0"/>
              <a:t>Responsible for design, testing, documentation, and prototype execution.</a:t>
            </a:r>
          </a:p>
          <a:p>
            <a:pPr marL="0" indent="0">
              <a:buNone/>
            </a:pPr>
            <a:br>
              <a:rPr lang="en-US" sz="1100" dirty="0"/>
            </a:br>
            <a:endParaRPr lang="en-US" sz="1100" dirty="0"/>
          </a:p>
          <a:p>
            <a:pPr marL="0" indent="0">
              <a:buNone/>
            </a:pPr>
            <a:r>
              <a:rPr lang="en-US" sz="1100" b="1" dirty="0"/>
              <a:t>Academic Stakeholders</a:t>
            </a:r>
          </a:p>
          <a:p>
            <a:pPr marL="0" indent="0">
              <a:buNone/>
            </a:pPr>
            <a:r>
              <a:rPr lang="en-US" sz="1100" b="1" dirty="0"/>
              <a:t>Course Instructor – Dr. Anna Sidorova</a:t>
            </a:r>
            <a:br>
              <a:rPr lang="en-US" sz="1100" dirty="0"/>
            </a:br>
            <a:r>
              <a:rPr lang="en-US" sz="1100" dirty="0"/>
              <a:t>Oversees project quality, evaluation, and guidance.</a:t>
            </a:r>
          </a:p>
          <a:p>
            <a:pPr marL="0" indent="0">
              <a:buNone/>
            </a:pPr>
            <a:r>
              <a:rPr lang="en-US" sz="1100" b="1" dirty="0"/>
              <a:t>UNT BCIS 5140 Program</a:t>
            </a:r>
            <a:br>
              <a:rPr lang="en-US" sz="1100" dirty="0"/>
            </a:br>
            <a:r>
              <a:rPr lang="en-US" sz="1100" dirty="0"/>
              <a:t>Ensures the project meets academic standards and aligns with course learning objectives.</a:t>
            </a:r>
          </a:p>
          <a:p>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2166217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lstStyle/>
          <a:p>
            <a:r>
              <a:rPr lang="en-US" dirty="0"/>
              <a:t>Business requirements – Stakeholder analysis</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fontScale="70000" lnSpcReduction="20000"/>
          </a:bodyPr>
          <a:lstStyle/>
          <a:p>
            <a:pPr marL="0" indent="0">
              <a:buNone/>
            </a:pPr>
            <a:r>
              <a:rPr lang="en-US" b="1" dirty="0"/>
              <a:t>1. </a:t>
            </a:r>
            <a:r>
              <a:rPr lang="en-US" b="1" dirty="0" err="1"/>
              <a:t>PlayStayTion</a:t>
            </a:r>
            <a:r>
              <a:rPr lang="en-US" b="1" dirty="0"/>
              <a:t> Staff (Front Desk &amp; Reservations Team)</a:t>
            </a:r>
          </a:p>
          <a:p>
            <a:pPr marL="0" indent="0">
              <a:buNone/>
            </a:pPr>
            <a:r>
              <a:rPr lang="en-US" b="1" dirty="0"/>
              <a:t>Role:</a:t>
            </a:r>
            <a:r>
              <a:rPr lang="en-US" dirty="0"/>
              <a:t> Primary users reviewing and sending AI-generated drafts.</a:t>
            </a:r>
            <a:br>
              <a:rPr lang="en-US" dirty="0"/>
            </a:br>
            <a:r>
              <a:rPr lang="en-US" b="1" dirty="0"/>
              <a:t>Needs:</a:t>
            </a:r>
            <a:endParaRPr lang="en-US" dirty="0"/>
          </a:p>
          <a:p>
            <a:r>
              <a:rPr lang="en-US" dirty="0"/>
              <a:t>Faster, consistent replies</a:t>
            </a:r>
          </a:p>
          <a:p>
            <a:r>
              <a:rPr lang="en-US" dirty="0"/>
              <a:t>Automated extraction of key details</a:t>
            </a:r>
          </a:p>
          <a:p>
            <a:r>
              <a:rPr lang="en-US" dirty="0"/>
              <a:t>Reduced manual typing and interpretation</a:t>
            </a:r>
          </a:p>
          <a:p>
            <a:r>
              <a:rPr lang="en-US" dirty="0"/>
              <a:t>Clear escalation for complex/medical cases</a:t>
            </a:r>
            <a:br>
              <a:rPr lang="en-US" dirty="0"/>
            </a:br>
            <a:r>
              <a:rPr lang="en-US" b="1" dirty="0"/>
              <a:t>Impact:</a:t>
            </a:r>
            <a:r>
              <a:rPr lang="en-US" dirty="0"/>
              <a:t> High — automation directly reduces their workload.</a:t>
            </a:r>
            <a:br>
              <a:rPr lang="en-US" dirty="0"/>
            </a:br>
            <a:endParaRPr lang="en-US" dirty="0"/>
          </a:p>
          <a:p>
            <a:pPr marL="0" indent="0">
              <a:buNone/>
            </a:pPr>
            <a:r>
              <a:rPr lang="en-US" b="1" dirty="0"/>
              <a:t>2. Business Owner (Vicki Nourse)</a:t>
            </a:r>
          </a:p>
          <a:p>
            <a:pPr marL="0" indent="0">
              <a:buNone/>
            </a:pPr>
            <a:r>
              <a:rPr lang="en-US" b="1" dirty="0"/>
              <a:t>Role:</a:t>
            </a:r>
            <a:r>
              <a:rPr lang="en-US" dirty="0"/>
              <a:t> Decision-maker and project sponsor.</a:t>
            </a:r>
            <a:br>
              <a:rPr lang="en-US" dirty="0"/>
            </a:br>
            <a:r>
              <a:rPr lang="en-US" b="1" dirty="0"/>
              <a:t>Needs:</a:t>
            </a:r>
            <a:endParaRPr lang="en-US" dirty="0"/>
          </a:p>
          <a:p>
            <a:r>
              <a:rPr lang="en-US" dirty="0"/>
              <a:t>Improved customer response speed</a:t>
            </a:r>
          </a:p>
          <a:p>
            <a:r>
              <a:rPr lang="en-US" dirty="0"/>
              <a:t>Reduced operational strain during busy periods</a:t>
            </a:r>
          </a:p>
          <a:p>
            <a:r>
              <a:rPr lang="en-US" dirty="0"/>
              <a:t>Scalable foundation for future voice/chat automation</a:t>
            </a:r>
          </a:p>
          <a:p>
            <a:r>
              <a:rPr lang="en-US" dirty="0"/>
              <a:t>Protection of brand tone and service quality</a:t>
            </a:r>
            <a:br>
              <a:rPr lang="en-US" dirty="0"/>
            </a:br>
            <a:r>
              <a:rPr lang="en-US" b="1" dirty="0"/>
              <a:t>Impact:</a:t>
            </a:r>
            <a:r>
              <a:rPr lang="en-US" dirty="0"/>
              <a:t> High — project aligns with long-term efficiency goals.</a:t>
            </a:r>
            <a:br>
              <a:rPr lang="en-US" dirty="0"/>
            </a:br>
            <a:endParaRPr lang="en-US" dirty="0"/>
          </a:p>
          <a:p>
            <a:pPr marL="0" indent="0">
              <a:buNone/>
            </a:pPr>
            <a:r>
              <a:rPr lang="en-US" b="1" dirty="0"/>
              <a:t>3. Customers (Pet Owners)</a:t>
            </a:r>
          </a:p>
          <a:p>
            <a:pPr marL="0" indent="0">
              <a:buNone/>
            </a:pPr>
            <a:r>
              <a:rPr lang="en-US" b="1" dirty="0"/>
              <a:t>Role:</a:t>
            </a:r>
            <a:r>
              <a:rPr lang="en-US" dirty="0"/>
              <a:t> Senders of emails requiring assistance.</a:t>
            </a:r>
            <a:br>
              <a:rPr lang="en-US" dirty="0"/>
            </a:br>
            <a:r>
              <a:rPr lang="en-US" b="1" dirty="0"/>
              <a:t>Needs:</a:t>
            </a:r>
            <a:endParaRPr lang="en-US" dirty="0"/>
          </a:p>
          <a:p>
            <a:r>
              <a:rPr lang="en-US" dirty="0"/>
              <a:t>Quick, accurate responses</a:t>
            </a:r>
          </a:p>
          <a:p>
            <a:r>
              <a:rPr lang="en-US" dirty="0"/>
              <a:t>Clear instructions for booking through </a:t>
            </a:r>
            <a:r>
              <a:rPr lang="en-US" dirty="0" err="1"/>
              <a:t>ProPet</a:t>
            </a:r>
            <a:endParaRPr lang="en-US" dirty="0"/>
          </a:p>
          <a:p>
            <a:r>
              <a:rPr lang="en-US" dirty="0"/>
              <a:t>Friendly, professional communication</a:t>
            </a:r>
            <a:br>
              <a:rPr lang="en-US" dirty="0"/>
            </a:br>
            <a:r>
              <a:rPr lang="en-US" b="1" dirty="0"/>
              <a:t>Impact:</a:t>
            </a:r>
            <a:r>
              <a:rPr lang="en-US" dirty="0"/>
              <a:t> Medium — benefits are indirect but highly valuable.</a:t>
            </a:r>
            <a:br>
              <a:rPr lang="en-US" dirty="0"/>
            </a:br>
            <a:endParaRPr lang="en-US" dirty="0"/>
          </a:p>
          <a:p>
            <a:pPr marL="0" indent="0">
              <a:buNone/>
            </a:pPr>
            <a:r>
              <a:rPr lang="en-US" b="1" dirty="0"/>
              <a:t>4. Management &amp; Operations Leads</a:t>
            </a:r>
          </a:p>
          <a:p>
            <a:pPr marL="0" indent="0">
              <a:buNone/>
            </a:pPr>
            <a:r>
              <a:rPr lang="en-US" b="1" dirty="0"/>
              <a:t>Role:</a:t>
            </a:r>
            <a:r>
              <a:rPr lang="en-US" dirty="0"/>
              <a:t> Oversee workflow, staffing, and service delivery.</a:t>
            </a:r>
            <a:br>
              <a:rPr lang="en-US" dirty="0"/>
            </a:br>
            <a:r>
              <a:rPr lang="en-US" b="1" dirty="0"/>
              <a:t>Needs:</a:t>
            </a:r>
            <a:endParaRPr lang="en-US" dirty="0"/>
          </a:p>
          <a:p>
            <a:r>
              <a:rPr lang="en-US" dirty="0"/>
              <a:t>Efficient communication pipeline</a:t>
            </a:r>
          </a:p>
          <a:p>
            <a:r>
              <a:rPr lang="en-US" dirty="0"/>
              <a:t>Fewer repetitive tasks for staff</a:t>
            </a:r>
          </a:p>
          <a:p>
            <a:r>
              <a:rPr lang="en-US" dirty="0"/>
              <a:t>Insight into common customer inquiries</a:t>
            </a:r>
            <a:br>
              <a:rPr lang="en-US" dirty="0"/>
            </a:br>
            <a:r>
              <a:rPr lang="en-US" b="1" dirty="0"/>
              <a:t>Impact:</a:t>
            </a:r>
            <a:r>
              <a:rPr lang="en-US" dirty="0"/>
              <a:t> Medium — automation supports smoother operations.</a:t>
            </a:r>
            <a:br>
              <a:rPr lang="en-US" dirty="0"/>
            </a:br>
            <a:endParaRPr lang="en-US" dirty="0"/>
          </a:p>
          <a:p>
            <a:pPr marL="0" indent="0">
              <a:buNone/>
            </a:pPr>
            <a:r>
              <a:rPr lang="en-US" b="1" dirty="0"/>
              <a:t>5. Project Team (Student Developers)</a:t>
            </a:r>
          </a:p>
          <a:p>
            <a:pPr marL="0" indent="0">
              <a:buNone/>
            </a:pPr>
            <a:r>
              <a:rPr lang="en-US" b="1" dirty="0"/>
              <a:t>Role:</a:t>
            </a:r>
            <a:r>
              <a:rPr lang="en-US" dirty="0"/>
              <a:t> Designers and implementers of the AI prototype.</a:t>
            </a:r>
            <a:br>
              <a:rPr lang="en-US" dirty="0"/>
            </a:br>
            <a:r>
              <a:rPr lang="en-US" b="1" dirty="0"/>
              <a:t>Needs:</a:t>
            </a:r>
            <a:endParaRPr lang="en-US" dirty="0"/>
          </a:p>
          <a:p>
            <a:r>
              <a:rPr lang="en-US" dirty="0"/>
              <a:t>Feasible, safe, and testable data</a:t>
            </a:r>
          </a:p>
          <a:p>
            <a:r>
              <a:rPr lang="en-US" dirty="0"/>
              <a:t>Clear requirements from the client</a:t>
            </a:r>
          </a:p>
          <a:p>
            <a:r>
              <a:rPr lang="en-US" dirty="0"/>
              <a:t>Ability to design isolated, academic prototypes</a:t>
            </a:r>
            <a:br>
              <a:rPr lang="en-US" dirty="0"/>
            </a:br>
            <a:r>
              <a:rPr lang="en-US" b="1" dirty="0"/>
              <a:t>Impact:</a:t>
            </a:r>
            <a:r>
              <a:rPr lang="en-US" dirty="0"/>
              <a:t> Low — stakeholders in development only.</a:t>
            </a:r>
            <a:br>
              <a:rPr lang="en-US" dirty="0"/>
            </a:br>
            <a:endParaRPr lang="en-US" dirty="0"/>
          </a:p>
          <a:p>
            <a:pPr marL="0" indent="0">
              <a:buNone/>
            </a:pPr>
            <a:r>
              <a:rPr lang="en-US" b="1" dirty="0"/>
              <a:t>6. Course Instructor – Dr. Anna Sidorova</a:t>
            </a:r>
          </a:p>
          <a:p>
            <a:pPr marL="0" indent="0">
              <a:buNone/>
            </a:pPr>
            <a:r>
              <a:rPr lang="en-US" b="1" dirty="0"/>
              <a:t>Role:</a:t>
            </a:r>
            <a:r>
              <a:rPr lang="en-US" dirty="0"/>
              <a:t> Oversees academic alignment and evaluation.</a:t>
            </a:r>
            <a:br>
              <a:rPr lang="en-US" dirty="0"/>
            </a:br>
            <a:r>
              <a:rPr lang="en-US" b="1" dirty="0"/>
              <a:t>Needs:</a:t>
            </a:r>
            <a:endParaRPr lang="en-US" dirty="0"/>
          </a:p>
          <a:p>
            <a:r>
              <a:rPr lang="en-US" dirty="0"/>
              <a:t>Proper application of agentic AI concepts</a:t>
            </a:r>
          </a:p>
          <a:p>
            <a:r>
              <a:rPr lang="en-US" dirty="0"/>
              <a:t>Clear documentation and ethical boundaries</a:t>
            </a:r>
          </a:p>
          <a:p>
            <a:r>
              <a:rPr lang="en-US" dirty="0"/>
              <a:t>Demonstration of a working prototype</a:t>
            </a:r>
          </a:p>
          <a:p>
            <a:pPr marL="0" indent="0">
              <a:buNone/>
            </a:pPr>
            <a:r>
              <a:rPr lang="en-US" b="1" dirty="0"/>
              <a:t>Impact:</a:t>
            </a:r>
            <a:r>
              <a:rPr lang="en-US" dirty="0"/>
              <a:t> Medium — ensures quality and academic integrity.</a:t>
            </a:r>
          </a:p>
          <a:p>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811117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6D55-EA78-B530-6314-99FA9A159A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50605D0-D1FB-2AF6-A264-C8A123914473}"/>
              </a:ext>
            </a:extLst>
          </p:cNvPr>
          <p:cNvSpPr>
            <a:spLocks noGrp="1"/>
          </p:cNvSpPr>
          <p:nvPr>
            <p:ph type="ctrTitle"/>
          </p:nvPr>
        </p:nvSpPr>
        <p:spPr/>
        <p:txBody>
          <a:bodyPr/>
          <a:lstStyle/>
          <a:p>
            <a:r>
              <a:rPr lang="en-US" dirty="0"/>
              <a:t>SOLUTION DESIGN</a:t>
            </a:r>
          </a:p>
        </p:txBody>
      </p:sp>
      <p:sp>
        <p:nvSpPr>
          <p:cNvPr id="4" name="Footer Placeholder 3">
            <a:extLst>
              <a:ext uri="{FF2B5EF4-FFF2-40B4-BE49-F238E27FC236}">
                <a16:creationId xmlns:a16="http://schemas.microsoft.com/office/drawing/2014/main" id="{2BA97386-AD45-7D1E-A56D-E84671E0C8B2}"/>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708503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normAutofit fontScale="90000"/>
          </a:bodyPr>
          <a:lstStyle/>
          <a:p>
            <a:r>
              <a:rPr lang="en-US" dirty="0"/>
              <a:t>Business requirements – Agentic Solution Environment and Objectives</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a:bodyPr>
          <a:lstStyle/>
          <a:p>
            <a:pPr marL="0" indent="0">
              <a:buNone/>
            </a:pPr>
            <a:r>
              <a:rPr lang="en-US" sz="1100" b="1" dirty="0"/>
              <a:t>Agentic Solution Environment</a:t>
            </a:r>
          </a:p>
          <a:p>
            <a:r>
              <a:rPr lang="en-US" sz="1100" dirty="0"/>
              <a:t>The agentic solution operates within a safe, controlled, and modular automation environment using n8n as the workflow orchestrator. It integrates three core components:</a:t>
            </a:r>
          </a:p>
          <a:p>
            <a:r>
              <a:rPr lang="en-US" sz="1100" b="1" dirty="0"/>
              <a:t>Gmail API</a:t>
            </a:r>
            <a:r>
              <a:rPr lang="en-US" sz="1100" dirty="0"/>
              <a:t> – Supplies incoming customer emails and sends AI-generated drafts back to staff for review.</a:t>
            </a:r>
          </a:p>
          <a:p>
            <a:r>
              <a:rPr lang="en-US" sz="1100" b="1" dirty="0"/>
              <a:t>OpenAI Message Agents</a:t>
            </a:r>
            <a:r>
              <a:rPr lang="en-US" sz="1100" dirty="0"/>
              <a:t> – Perform intent classification, entity extraction, and draft generation.</a:t>
            </a:r>
          </a:p>
          <a:p>
            <a:r>
              <a:rPr lang="en-US" sz="1100" b="1" dirty="0"/>
              <a:t>n8n Workflow Engine</a:t>
            </a:r>
            <a:r>
              <a:rPr lang="en-US" sz="1100" dirty="0"/>
              <a:t> – Connects all agents, applies logic and guardrails, routes outcomes, and maintains a human-in-the-loop review process.</a:t>
            </a:r>
          </a:p>
          <a:p>
            <a:pPr marL="0" indent="0">
              <a:buNone/>
            </a:pPr>
            <a:r>
              <a:rPr lang="en-US" sz="1100" dirty="0"/>
              <a:t>The environment is intentionally isolated from </a:t>
            </a:r>
            <a:r>
              <a:rPr lang="en-US" sz="1100" dirty="0" err="1"/>
              <a:t>PlayStayTion’s</a:t>
            </a:r>
            <a:r>
              <a:rPr lang="en-US" sz="1100" dirty="0"/>
              <a:t> operational systems (e.g., </a:t>
            </a:r>
            <a:r>
              <a:rPr lang="en-US" sz="1100" dirty="0" err="1"/>
              <a:t>ProPet</a:t>
            </a:r>
            <a:r>
              <a:rPr lang="en-US" sz="1100" dirty="0"/>
              <a:t>) to ensure data safety, simplicity, and reliable classroom prototyping.</a:t>
            </a:r>
            <a:br>
              <a:rPr lang="en-US" sz="1100" dirty="0"/>
            </a:br>
            <a:endParaRPr lang="en-US" sz="1100" dirty="0"/>
          </a:p>
          <a:p>
            <a:pPr marL="0" indent="0">
              <a:buNone/>
            </a:pPr>
            <a:r>
              <a:rPr lang="en-US" sz="1100" b="1" dirty="0"/>
              <a:t>Agentic Solution Objectives</a:t>
            </a:r>
          </a:p>
          <a:p>
            <a:r>
              <a:rPr lang="en-US" sz="1100" dirty="0"/>
              <a:t>The objectives of the agentic solution are to:</a:t>
            </a:r>
          </a:p>
          <a:p>
            <a:r>
              <a:rPr lang="en-US" sz="1100" dirty="0"/>
              <a:t>Automate the interpretation of customer emails by identifying intent and extracting essential details.</a:t>
            </a:r>
          </a:p>
          <a:p>
            <a:r>
              <a:rPr lang="en-US" sz="1100" dirty="0"/>
              <a:t>Reduce repetitive manual tasks for staff by generating high-quality draft responses.</a:t>
            </a:r>
          </a:p>
          <a:p>
            <a:r>
              <a:rPr lang="en-US" sz="1100" dirty="0"/>
              <a:t>Ensure all replies follow </a:t>
            </a:r>
            <a:r>
              <a:rPr lang="en-US" sz="1100" dirty="0" err="1"/>
              <a:t>PlayStayTion’s</a:t>
            </a:r>
            <a:r>
              <a:rPr lang="en-US" sz="1100" dirty="0"/>
              <a:t> friendly, professional communication style.</a:t>
            </a:r>
          </a:p>
          <a:p>
            <a:r>
              <a:rPr lang="en-US" sz="1100" dirty="0"/>
              <a:t>Detect missing information or special cases through guardrail rules and escalate them when necessary.</a:t>
            </a:r>
          </a:p>
          <a:p>
            <a:r>
              <a:rPr lang="en-US" sz="1100" dirty="0"/>
              <a:t>Provide a consistent, efficient customer communication experience while preserving full staff control.</a:t>
            </a:r>
          </a:p>
          <a:p>
            <a:r>
              <a:rPr lang="en-US" sz="1100" dirty="0"/>
              <a:t>Build a scalable foundation that can later expand into voice assistants, chat automation, and integrated booking flows.</a:t>
            </a:r>
          </a:p>
          <a:p>
            <a:pPr marL="0" indent="0">
              <a:buNone/>
            </a:pPr>
            <a:r>
              <a:rPr lang="en-US" sz="1100" dirty="0"/>
              <a:t>The overall objective is to create a reliable, agent-based prototype that demonstrates how AI can support communication efficiency without replacing the human touch.</a:t>
            </a:r>
          </a:p>
          <a:p>
            <a:pPr marL="0" indent="0">
              <a:buNone/>
            </a:pPr>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2117407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normAutofit/>
          </a:bodyPr>
          <a:lstStyle/>
          <a:p>
            <a:r>
              <a:rPr lang="en-US" dirty="0"/>
              <a:t>Agentic Solution Design – Architecture</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a:xfrm>
            <a:off x="255415" y="670561"/>
            <a:ext cx="6333827" cy="7376160"/>
          </a:xfrm>
        </p:spPr>
        <p:txBody>
          <a:bodyPr>
            <a:normAutofit/>
          </a:bodyPr>
          <a:lstStyle/>
          <a:p>
            <a:pPr marL="0" indent="0">
              <a:buNone/>
            </a:pPr>
            <a:r>
              <a:rPr lang="en-US" sz="1100" b="1" dirty="0"/>
              <a:t>Overview</a:t>
            </a:r>
          </a:p>
          <a:p>
            <a:pPr marL="0" indent="0">
              <a:buNone/>
            </a:pPr>
            <a:r>
              <a:rPr lang="en-US" sz="1100" dirty="0"/>
              <a:t>The solution uses a </a:t>
            </a:r>
            <a:r>
              <a:rPr lang="en-US" sz="1100" b="1" dirty="0"/>
              <a:t>multi-agent, modular architecture</a:t>
            </a:r>
            <a:r>
              <a:rPr lang="en-US" sz="1100" dirty="0"/>
              <a:t> built inside the n8n automation platform. Each agent performs a specialized function, and the workflow orchestrator connects them to produce a complete end-to-end email-handling process.</a:t>
            </a:r>
            <a:br>
              <a:rPr lang="en-US" sz="1100" dirty="0"/>
            </a:br>
            <a:endParaRPr lang="en-US" sz="1100" dirty="0"/>
          </a:p>
          <a:p>
            <a:pPr marL="0" indent="0">
              <a:buNone/>
            </a:pPr>
            <a:r>
              <a:rPr lang="en-US" sz="1100" b="1" dirty="0"/>
              <a:t>1. Input Layer – Email Retrieval</a:t>
            </a:r>
          </a:p>
          <a:p>
            <a:r>
              <a:rPr lang="en-US" sz="1100" b="1" dirty="0"/>
              <a:t>Gmail Trigger</a:t>
            </a:r>
            <a:r>
              <a:rPr lang="en-US" sz="1100" dirty="0"/>
              <a:t> detects new customer emails.</a:t>
            </a:r>
          </a:p>
          <a:p>
            <a:r>
              <a:rPr lang="en-US" sz="1100" b="1" dirty="0"/>
              <a:t>Get Message Node</a:t>
            </a:r>
            <a:r>
              <a:rPr lang="en-US" sz="1100" dirty="0"/>
              <a:t> retrieves the email body, sender, and metadata.</a:t>
            </a:r>
            <a:br>
              <a:rPr lang="en-US" sz="1100" dirty="0"/>
            </a:br>
            <a:endParaRPr lang="en-US" sz="1100" dirty="0"/>
          </a:p>
          <a:p>
            <a:pPr marL="0" indent="0">
              <a:buNone/>
            </a:pPr>
            <a:r>
              <a:rPr lang="en-US" sz="1100" b="1" dirty="0"/>
              <a:t>2. Interpretation Layer – AI Agents</a:t>
            </a:r>
          </a:p>
          <a:p>
            <a:r>
              <a:rPr lang="en-US" sz="1100" b="1" dirty="0"/>
              <a:t>Classifier Agent (OpenAI)</a:t>
            </a:r>
            <a:br>
              <a:rPr lang="en-US" sz="1100" dirty="0"/>
            </a:br>
            <a:r>
              <a:rPr lang="en-US" sz="1100" dirty="0"/>
              <a:t>Identifies the customer’s intent (boarding, grooming, daycare, training, Pet Taxi, cancellation, general, unknown).</a:t>
            </a:r>
          </a:p>
          <a:p>
            <a:r>
              <a:rPr lang="en-US" sz="1100" b="1" dirty="0"/>
              <a:t>Extractor Agent (OpenAI)</a:t>
            </a:r>
            <a:br>
              <a:rPr lang="en-US" sz="1100" dirty="0"/>
            </a:br>
            <a:r>
              <a:rPr lang="en-US" sz="1100" dirty="0"/>
              <a:t>Pulls structured details such as pet name, dates, service type, and city and outputs JSON for routing.</a:t>
            </a:r>
          </a:p>
          <a:p>
            <a:r>
              <a:rPr lang="en-US" sz="1100" b="1" dirty="0"/>
              <a:t>Guardrails &amp; Rules</a:t>
            </a:r>
            <a:br>
              <a:rPr lang="en-US" sz="1100" dirty="0"/>
            </a:br>
            <a:r>
              <a:rPr lang="en-US" sz="1100" dirty="0"/>
              <a:t>n8n logic checks for missing information, unclear intent, medical flags, or low confidence.</a:t>
            </a:r>
            <a:br>
              <a:rPr lang="en-US" sz="1100" dirty="0"/>
            </a:br>
            <a:endParaRPr lang="en-US" sz="1100" dirty="0"/>
          </a:p>
          <a:p>
            <a:pPr marL="0" indent="0">
              <a:buNone/>
            </a:pPr>
            <a:r>
              <a:rPr lang="en-US" sz="1100" b="1" dirty="0"/>
              <a:t>3. Routing Layer – Decision Logic</a:t>
            </a:r>
          </a:p>
          <a:p>
            <a:r>
              <a:rPr lang="en-US" sz="1100" b="1" dirty="0"/>
              <a:t>Switch Node</a:t>
            </a:r>
            <a:r>
              <a:rPr lang="en-US" sz="1100" dirty="0"/>
              <a:t> routes the email to the correct intent branch.</a:t>
            </a:r>
          </a:p>
          <a:p>
            <a:r>
              <a:rPr lang="en-US" sz="1100" dirty="0"/>
              <a:t>Each branch triggers a </a:t>
            </a:r>
            <a:r>
              <a:rPr lang="en-US" sz="1100" b="1" dirty="0"/>
              <a:t>specialized AI module</a:t>
            </a:r>
            <a:r>
              <a:rPr lang="en-US" sz="1100" dirty="0"/>
              <a:t> (Boarding, Grooming, Pet Taxi, etc.) with its own prompt and logic.</a:t>
            </a:r>
          </a:p>
          <a:p>
            <a:pPr marL="0" indent="0">
              <a:buNone/>
            </a:pPr>
            <a:endParaRPr lang="en-US" sz="1100" dirty="0"/>
          </a:p>
          <a:p>
            <a:pPr marL="0" indent="0">
              <a:buNone/>
            </a:pPr>
            <a:r>
              <a:rPr lang="en-US" sz="1100" b="1" dirty="0"/>
              <a:t>4. Response Generation Layer</a:t>
            </a:r>
          </a:p>
          <a:p>
            <a:r>
              <a:rPr lang="en-US" sz="1100" b="1" dirty="0"/>
              <a:t>Reply Writer Agent (OpenAI)</a:t>
            </a:r>
            <a:br>
              <a:rPr lang="en-US" sz="1100" dirty="0"/>
            </a:br>
            <a:r>
              <a:rPr lang="en-US" sz="1100" dirty="0"/>
              <a:t>Drafts a friendly, concise, </a:t>
            </a:r>
            <a:r>
              <a:rPr lang="en-US" sz="1100" dirty="0" err="1"/>
              <a:t>PlayStayTion</a:t>
            </a:r>
            <a:r>
              <a:rPr lang="en-US" sz="1100" dirty="0"/>
              <a:t>-aligned email that asks only for missing details or provides correct next steps.</a:t>
            </a:r>
            <a:br>
              <a:rPr lang="en-US" sz="1100" dirty="0"/>
            </a:br>
            <a:endParaRPr lang="en-US" sz="1100" dirty="0"/>
          </a:p>
          <a:p>
            <a:pPr marL="0" indent="0">
              <a:buNone/>
            </a:pPr>
            <a:r>
              <a:rPr lang="en-US" sz="1100" b="1" dirty="0"/>
              <a:t>5. Output Layer – Human-in-the-Loop</a:t>
            </a:r>
          </a:p>
          <a:p>
            <a:r>
              <a:rPr lang="en-US" sz="1100" dirty="0"/>
              <a:t>Draft emails are sent back into Gmail with labels indicating their category or escalation status.</a:t>
            </a:r>
          </a:p>
          <a:p>
            <a:r>
              <a:rPr lang="en-US" sz="1100" dirty="0"/>
              <a:t>Staff review, edit if needed, and send the final response.</a:t>
            </a:r>
            <a:br>
              <a:rPr lang="en-US" sz="1100" dirty="0"/>
            </a:br>
            <a:endParaRPr lang="en-US" sz="1100" dirty="0"/>
          </a:p>
          <a:p>
            <a:pPr marL="0" indent="0">
              <a:buNone/>
            </a:pPr>
            <a:r>
              <a:rPr lang="en-US" sz="1100" b="1" dirty="0"/>
              <a:t>6. Optional Logging Layer</a:t>
            </a:r>
          </a:p>
          <a:p>
            <a:r>
              <a:rPr lang="en-US" sz="1100" dirty="0"/>
              <a:t>Details can be saved to Google Sheets for analytics, accuracy tracking, or future improvements.</a:t>
            </a:r>
          </a:p>
          <a:p>
            <a:pPr marL="0" indent="0">
              <a:buNone/>
            </a:pPr>
            <a:endParaRPr lang="en-US" sz="1100"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798548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normAutofit/>
          </a:bodyPr>
          <a:lstStyle/>
          <a:p>
            <a:r>
              <a:rPr lang="en-US" dirty="0"/>
              <a:t>Agentic Solution Design – Data Access and Grounding</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a:bodyPr>
          <a:lstStyle/>
          <a:p>
            <a:pPr marL="0" indent="0">
              <a:buNone/>
            </a:pPr>
            <a:r>
              <a:rPr lang="en-US" sz="1100" b="1" dirty="0"/>
              <a:t>Data Access</a:t>
            </a:r>
          </a:p>
          <a:p>
            <a:pPr marL="0" indent="0">
              <a:buNone/>
            </a:pPr>
            <a:r>
              <a:rPr lang="en-US" sz="1100" dirty="0"/>
              <a:t>The agentic solution uses minimal and safe data access to ensure privacy and simplicity.</a:t>
            </a:r>
            <a:br>
              <a:rPr lang="en-US" sz="1100" dirty="0"/>
            </a:br>
            <a:r>
              <a:rPr lang="en-US" sz="1100" dirty="0"/>
              <a:t>All data comes from controlled, test-only sources:</a:t>
            </a:r>
          </a:p>
          <a:p>
            <a:r>
              <a:rPr lang="en-US" sz="1100" b="1" dirty="0"/>
              <a:t>Gmail API (Read + Metadata)</a:t>
            </a:r>
            <a:br>
              <a:rPr lang="en-US" sz="1100" dirty="0"/>
            </a:br>
            <a:r>
              <a:rPr lang="en-US" sz="1100" dirty="0"/>
              <a:t>Used to retrieve incoming emails with subject, sender, and message body.</a:t>
            </a:r>
          </a:p>
          <a:p>
            <a:r>
              <a:rPr lang="en-US" sz="1100" b="1" dirty="0"/>
              <a:t>Gmail API (Draft + Send)</a:t>
            </a:r>
            <a:br>
              <a:rPr lang="en-US" sz="1100" dirty="0"/>
            </a:br>
            <a:r>
              <a:rPr lang="en-US" sz="1100" dirty="0"/>
              <a:t>Used to return AI-generated draft replies back to staff for review.</a:t>
            </a:r>
          </a:p>
          <a:p>
            <a:r>
              <a:rPr lang="en-US" sz="1100" b="1" dirty="0"/>
              <a:t>Synthetic / Mock Emails</a:t>
            </a:r>
            <a:br>
              <a:rPr lang="en-US" sz="1100" dirty="0"/>
            </a:br>
            <a:r>
              <a:rPr lang="en-US" sz="1100" dirty="0"/>
              <a:t>A curated set of test emails representing the most common customer requests (boarding, grooming, Pet Taxi, etc.).</a:t>
            </a:r>
            <a:br>
              <a:rPr lang="en-US" sz="1100" dirty="0"/>
            </a:br>
            <a:r>
              <a:rPr lang="en-US" sz="1100" dirty="0"/>
              <a:t>No real customer data is used at any stage.</a:t>
            </a:r>
          </a:p>
          <a:p>
            <a:r>
              <a:rPr lang="en-US" sz="1100" b="1" dirty="0"/>
              <a:t>OpenAI Message Models</a:t>
            </a:r>
            <a:br>
              <a:rPr lang="en-US" sz="1100" dirty="0"/>
            </a:br>
            <a:r>
              <a:rPr lang="en-US" sz="1100" dirty="0"/>
              <a:t>Only receive the content of the reviewed test emails and return structured outputs (intent, extracted fields, draft responses).</a:t>
            </a:r>
          </a:p>
          <a:p>
            <a:r>
              <a:rPr lang="en-US" sz="1100" b="1" dirty="0"/>
              <a:t>Optional Google Sheet (Testing Only)</a:t>
            </a:r>
            <a:br>
              <a:rPr lang="en-US" sz="1100" dirty="0"/>
            </a:br>
            <a:r>
              <a:rPr lang="en-US" sz="1100" dirty="0"/>
              <a:t>Used to log extracted fields or test accuracy for evaluation.</a:t>
            </a:r>
          </a:p>
          <a:p>
            <a:pPr marL="0" indent="0">
              <a:buNone/>
            </a:pPr>
            <a:r>
              <a:rPr lang="en-US" sz="1100" dirty="0"/>
              <a:t>There is </a:t>
            </a:r>
            <a:r>
              <a:rPr lang="en-US" sz="1100" b="1" dirty="0"/>
              <a:t>no</a:t>
            </a:r>
            <a:r>
              <a:rPr lang="en-US" sz="1100" dirty="0"/>
              <a:t> integration with </a:t>
            </a:r>
            <a:r>
              <a:rPr lang="en-US" sz="1100" dirty="0" err="1"/>
              <a:t>ProPet</a:t>
            </a:r>
            <a:r>
              <a:rPr lang="en-US" sz="1100" dirty="0"/>
              <a:t>, CRM, or any live operational database.</a:t>
            </a:r>
            <a:br>
              <a:rPr lang="en-US" sz="1100" dirty="0"/>
            </a:br>
            <a:r>
              <a:rPr lang="en-US" sz="1100" dirty="0"/>
              <a:t>All data flows remain contained inside the prototype environment.</a:t>
            </a:r>
          </a:p>
          <a:p>
            <a:pPr marL="0" indent="0">
              <a:buNone/>
            </a:pPr>
            <a:br>
              <a:rPr lang="en-US" sz="1100" dirty="0"/>
            </a:br>
            <a:endParaRPr lang="en-US" sz="1100" dirty="0"/>
          </a:p>
          <a:p>
            <a:pPr marL="0" indent="0">
              <a:buNone/>
            </a:pPr>
            <a:r>
              <a:rPr lang="en-US" sz="1100" b="1" dirty="0"/>
              <a:t>Data Grounding</a:t>
            </a:r>
          </a:p>
          <a:p>
            <a:pPr marL="0" indent="0">
              <a:buNone/>
            </a:pPr>
            <a:r>
              <a:rPr lang="en-US" sz="1100" dirty="0"/>
              <a:t>Because this prototype focuses on intent detection and structured responses, grounding is performed through </a:t>
            </a:r>
            <a:r>
              <a:rPr lang="en-US" sz="1100" b="1" dirty="0"/>
              <a:t>prompt instructions and rule-based guardrails</a:t>
            </a:r>
            <a:r>
              <a:rPr lang="en-US" sz="1100" dirty="0"/>
              <a:t>, not external retrieval.</a:t>
            </a:r>
          </a:p>
          <a:p>
            <a:r>
              <a:rPr lang="en-US" sz="1100" b="1" dirty="0"/>
              <a:t>Grounding Through Prompts</a:t>
            </a:r>
            <a:br>
              <a:rPr lang="en-US" sz="1100" dirty="0"/>
            </a:br>
            <a:r>
              <a:rPr lang="en-US" sz="1100" dirty="0"/>
              <a:t>Each agent is guided by carefully designed prompts that include:</a:t>
            </a:r>
          </a:p>
          <a:p>
            <a:pPr lvl="1"/>
            <a:r>
              <a:rPr lang="en-US" dirty="0"/>
              <a:t>Allowed service types</a:t>
            </a:r>
          </a:p>
          <a:p>
            <a:pPr lvl="1"/>
            <a:r>
              <a:rPr lang="en-US" dirty="0"/>
              <a:t>Expected fields (dates, pet name, city, service type)</a:t>
            </a:r>
          </a:p>
          <a:p>
            <a:pPr lvl="1"/>
            <a:r>
              <a:rPr lang="en-US" dirty="0"/>
              <a:t>Instructions to never confirm availability</a:t>
            </a:r>
          </a:p>
          <a:p>
            <a:pPr lvl="1"/>
            <a:r>
              <a:rPr lang="en-US" dirty="0"/>
              <a:t>Requirements to direct customers to </a:t>
            </a:r>
            <a:r>
              <a:rPr lang="en-US" dirty="0" err="1"/>
              <a:t>ProPet</a:t>
            </a:r>
            <a:endParaRPr lang="en-US" dirty="0"/>
          </a:p>
          <a:p>
            <a:pPr lvl="1"/>
            <a:r>
              <a:rPr lang="en-US" dirty="0" err="1"/>
              <a:t>PlayStayTion’s</a:t>
            </a:r>
            <a:r>
              <a:rPr lang="en-US" dirty="0"/>
              <a:t> friendly and professional tone</a:t>
            </a:r>
          </a:p>
          <a:p>
            <a:r>
              <a:rPr lang="en-US" sz="1100" b="1" dirty="0"/>
              <a:t>Rule-Based Guardrails in n8n</a:t>
            </a:r>
            <a:br>
              <a:rPr lang="en-US" sz="1100" dirty="0"/>
            </a:br>
            <a:r>
              <a:rPr lang="en-US" sz="1100" dirty="0"/>
              <a:t>Guardrails identify missing information, unclear intent, medical issues, or conflicting details.</a:t>
            </a:r>
            <a:br>
              <a:rPr lang="en-US" sz="1100" dirty="0"/>
            </a:br>
            <a:r>
              <a:rPr lang="en-US" sz="1100" dirty="0"/>
              <a:t>These rules ensure safe, consistent output without relying on external documents.</a:t>
            </a:r>
          </a:p>
          <a:p>
            <a:r>
              <a:rPr lang="en-US" sz="1100" b="1" dirty="0"/>
              <a:t>Brand Style Grounding</a:t>
            </a:r>
            <a:br>
              <a:rPr lang="en-US" sz="1100" dirty="0"/>
            </a:br>
            <a:r>
              <a:rPr lang="en-US" sz="1100" dirty="0"/>
              <a:t>Tone and style are embedded in the Reply Writer prompts so drafts remain polite, concise, and aligned with </a:t>
            </a:r>
            <a:r>
              <a:rPr lang="en-US" sz="1100" dirty="0" err="1"/>
              <a:t>PlayStayTion’s</a:t>
            </a:r>
            <a:r>
              <a:rPr lang="en-US" sz="1100" dirty="0"/>
              <a:t> communication standards.</a:t>
            </a:r>
          </a:p>
          <a:p>
            <a:pPr marL="0" indent="0">
              <a:buNone/>
            </a:pPr>
            <a:r>
              <a:rPr lang="en-US" sz="1100" dirty="0"/>
              <a:t>This approach provides stable, predictable grounding while keeping the system simple, safe, and fully under human control.</a:t>
            </a:r>
          </a:p>
          <a:p>
            <a:pPr marL="0" indent="0">
              <a:buNone/>
            </a:pPr>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1295231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normAutofit/>
          </a:bodyPr>
          <a:lstStyle/>
          <a:p>
            <a:r>
              <a:rPr lang="en-US" dirty="0"/>
              <a:t>Agentic Solution Design – Actions and Tools</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a:bodyPr>
          <a:lstStyle/>
          <a:p>
            <a:pPr marL="0" indent="0">
              <a:buNone/>
            </a:pPr>
            <a:r>
              <a:rPr lang="en-US" sz="1100" b="1" dirty="0"/>
              <a:t>Key Actions Performed by the Agentic System</a:t>
            </a:r>
          </a:p>
          <a:p>
            <a:pPr marL="0" indent="0">
              <a:buNone/>
            </a:pPr>
            <a:r>
              <a:rPr lang="en-US" sz="1100" b="1" dirty="0"/>
              <a:t>Trigger Email Intake</a:t>
            </a:r>
            <a:br>
              <a:rPr lang="en-US" sz="1100" dirty="0"/>
            </a:br>
            <a:r>
              <a:rPr lang="en-US" sz="1100" dirty="0"/>
              <a:t>Detect new customer emails through Gmail Trigger.</a:t>
            </a:r>
          </a:p>
          <a:p>
            <a:pPr marL="0" indent="0">
              <a:buNone/>
            </a:pPr>
            <a:r>
              <a:rPr lang="en-US" sz="1100" b="1" dirty="0"/>
              <a:t>Retrieve and Normalize Message</a:t>
            </a:r>
            <a:br>
              <a:rPr lang="en-US" sz="1100" dirty="0"/>
            </a:br>
            <a:r>
              <a:rPr lang="en-US" sz="1100" dirty="0"/>
              <a:t>Extract subject, sender, and email body for processing.</a:t>
            </a:r>
          </a:p>
          <a:p>
            <a:pPr marL="0" indent="0">
              <a:buNone/>
            </a:pPr>
            <a:r>
              <a:rPr lang="en-US" sz="1100" b="1" dirty="0"/>
              <a:t>Classify Intent</a:t>
            </a:r>
            <a:br>
              <a:rPr lang="en-US" sz="1100" dirty="0"/>
            </a:br>
            <a:r>
              <a:rPr lang="en-US" sz="1100" dirty="0"/>
              <a:t>Use OpenAI to determine whether the email relates to Boarding, Grooming, Daycare, Training, Pet Taxi, Cancellation, General Inquiry, or Unknown.</a:t>
            </a:r>
          </a:p>
          <a:p>
            <a:pPr marL="0" indent="0">
              <a:buNone/>
            </a:pPr>
            <a:r>
              <a:rPr lang="en-US" sz="1100" b="1" dirty="0"/>
              <a:t>Extract Required Details</a:t>
            </a:r>
            <a:br>
              <a:rPr lang="en-US" sz="1100" dirty="0"/>
            </a:br>
            <a:r>
              <a:rPr lang="en-US" sz="1100" dirty="0"/>
              <a:t>Pull structured fields such as pet name, dates, service type, and location (for Pet Taxi).</a:t>
            </a:r>
          </a:p>
          <a:p>
            <a:pPr marL="0" indent="0">
              <a:buNone/>
            </a:pPr>
            <a:r>
              <a:rPr lang="en-US" sz="1100" b="1" dirty="0"/>
              <a:t>Apply Guardrails</a:t>
            </a:r>
            <a:br>
              <a:rPr lang="en-US" sz="1100" dirty="0"/>
            </a:br>
            <a:r>
              <a:rPr lang="en-US" sz="1100" dirty="0"/>
              <a:t>Check for missing details, unclear requests, medical concerns, or low-confidence predictions.</a:t>
            </a:r>
            <a:br>
              <a:rPr lang="en-US" sz="1100" dirty="0"/>
            </a:br>
            <a:r>
              <a:rPr lang="en-US" sz="1100" dirty="0"/>
              <a:t>Decide whether to generate a draft or escalate to staff.</a:t>
            </a:r>
          </a:p>
          <a:p>
            <a:pPr marL="0" indent="0">
              <a:buNone/>
            </a:pPr>
            <a:r>
              <a:rPr lang="en-US" sz="1100" b="1" dirty="0"/>
              <a:t>Generate Response Draft</a:t>
            </a:r>
            <a:br>
              <a:rPr lang="en-US" sz="1100" dirty="0"/>
            </a:br>
            <a:r>
              <a:rPr lang="en-US" sz="1100" dirty="0"/>
              <a:t>Create a short, friendly, </a:t>
            </a:r>
            <a:r>
              <a:rPr lang="en-US" sz="1100" dirty="0" err="1"/>
              <a:t>PlayStayTion</a:t>
            </a:r>
            <a:r>
              <a:rPr lang="en-US" sz="1100" dirty="0"/>
              <a:t>-aligned reply asking for only missing information or directing to </a:t>
            </a:r>
            <a:r>
              <a:rPr lang="en-US" sz="1100" dirty="0" err="1"/>
              <a:t>ProPet</a:t>
            </a:r>
            <a:r>
              <a:rPr lang="en-US" sz="1100" dirty="0"/>
              <a:t>.</a:t>
            </a:r>
          </a:p>
          <a:p>
            <a:pPr marL="0" indent="0">
              <a:buNone/>
            </a:pPr>
            <a:r>
              <a:rPr lang="en-US" sz="1100" b="1" dirty="0"/>
              <a:t>Route Output to Gmail</a:t>
            </a:r>
            <a:br>
              <a:rPr lang="en-US" sz="1100" dirty="0"/>
            </a:br>
            <a:r>
              <a:rPr lang="en-US" sz="1100" dirty="0"/>
              <a:t>Send the draft back into Gmail with appropriate labels for human review.</a:t>
            </a:r>
            <a:br>
              <a:rPr lang="en-US" sz="1100" dirty="0"/>
            </a:br>
            <a:endParaRPr lang="en-US" sz="1100" dirty="0"/>
          </a:p>
          <a:p>
            <a:pPr marL="0" indent="0">
              <a:buNone/>
            </a:pPr>
            <a:r>
              <a:rPr lang="en-US" sz="1100" b="1" dirty="0"/>
              <a:t>Tools Used in the Architecture</a:t>
            </a:r>
          </a:p>
          <a:p>
            <a:pPr marL="0" indent="0">
              <a:buNone/>
            </a:pPr>
            <a:r>
              <a:rPr lang="en-US" sz="1100" b="1" dirty="0"/>
              <a:t>n8n Workflow Engine</a:t>
            </a:r>
            <a:br>
              <a:rPr lang="en-US" sz="1100" dirty="0"/>
            </a:br>
            <a:r>
              <a:rPr lang="en-US" sz="1100" dirty="0"/>
              <a:t>Orchestrates the full pipeline, manages routing logic, and ensures human-in-the-loop review.</a:t>
            </a:r>
          </a:p>
          <a:p>
            <a:pPr marL="0" indent="0">
              <a:buNone/>
            </a:pPr>
            <a:r>
              <a:rPr lang="en-US" sz="1100" b="1" dirty="0"/>
              <a:t>Gmail API</a:t>
            </a:r>
            <a:endParaRPr lang="en-US" sz="1100" dirty="0"/>
          </a:p>
          <a:p>
            <a:pPr lvl="1"/>
            <a:r>
              <a:rPr lang="en-US" dirty="0"/>
              <a:t>Reads incoming emails</a:t>
            </a:r>
          </a:p>
          <a:p>
            <a:pPr lvl="1"/>
            <a:r>
              <a:rPr lang="en-US" dirty="0"/>
              <a:t>Creates draft responses</a:t>
            </a:r>
          </a:p>
          <a:p>
            <a:pPr lvl="1"/>
            <a:r>
              <a:rPr lang="en-US" dirty="0"/>
              <a:t>Applies labels for internal workflow organization</a:t>
            </a:r>
          </a:p>
          <a:p>
            <a:pPr marL="0" indent="0">
              <a:buNone/>
            </a:pPr>
            <a:r>
              <a:rPr lang="en-US" sz="1100" b="1" dirty="0"/>
              <a:t>OpenAI Message Models</a:t>
            </a:r>
            <a:endParaRPr lang="en-US" sz="1100" dirty="0"/>
          </a:p>
          <a:p>
            <a:pPr lvl="1"/>
            <a:r>
              <a:rPr lang="en-US" dirty="0"/>
              <a:t>Intent classification</a:t>
            </a:r>
          </a:p>
          <a:p>
            <a:pPr lvl="1"/>
            <a:r>
              <a:rPr lang="en-US" dirty="0"/>
              <a:t>Entity extraction</a:t>
            </a:r>
          </a:p>
          <a:p>
            <a:pPr lvl="1"/>
            <a:r>
              <a:rPr lang="en-US" dirty="0"/>
              <a:t>Draft-response generation</a:t>
            </a:r>
          </a:p>
          <a:p>
            <a:pPr marL="0" indent="0">
              <a:buNone/>
            </a:pPr>
            <a:r>
              <a:rPr lang="en-US" sz="1100" b="1" dirty="0"/>
              <a:t>n8n Code &amp; Switch Nodes</a:t>
            </a:r>
            <a:endParaRPr lang="en-US" sz="1100" dirty="0"/>
          </a:p>
          <a:p>
            <a:pPr lvl="1"/>
            <a:r>
              <a:rPr lang="en-US" dirty="0"/>
              <a:t>Implement guardrails</a:t>
            </a:r>
          </a:p>
          <a:p>
            <a:pPr lvl="1"/>
            <a:r>
              <a:rPr lang="en-US" dirty="0"/>
              <a:t>Validate extracted fields</a:t>
            </a:r>
          </a:p>
          <a:p>
            <a:pPr lvl="1"/>
            <a:r>
              <a:rPr lang="en-US" dirty="0"/>
              <a:t>Route emails to correct intent branches</a:t>
            </a:r>
          </a:p>
          <a:p>
            <a:pPr marL="0" indent="0">
              <a:buNone/>
            </a:pPr>
            <a:r>
              <a:rPr lang="en-US" sz="1100" b="1" dirty="0"/>
              <a:t>Optional Google Sheets</a:t>
            </a:r>
            <a:br>
              <a:rPr lang="en-US" sz="1100" dirty="0"/>
            </a:br>
            <a:r>
              <a:rPr lang="en-US" sz="1100" dirty="0"/>
              <a:t>Used only for logging test data, evaluation metrics, and prototype accuracy.</a:t>
            </a:r>
          </a:p>
          <a:p>
            <a:pPr marL="0" indent="0">
              <a:buNone/>
            </a:pPr>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3311484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normAutofit fontScale="90000"/>
          </a:bodyPr>
          <a:lstStyle/>
          <a:p>
            <a:r>
              <a:rPr lang="en-US" dirty="0"/>
              <a:t>Agentic Solution Design – Prototype Design and Implementation Environment</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a:bodyPr>
          <a:lstStyle/>
          <a:p>
            <a:pPr marL="0" indent="0">
              <a:buNone/>
            </a:pPr>
            <a:r>
              <a:rPr lang="en-US" sz="1100" b="1" dirty="0"/>
              <a:t>Agentic Solution Design – Prototype Design and Implementation Environment</a:t>
            </a:r>
          </a:p>
          <a:p>
            <a:r>
              <a:rPr lang="en-US" sz="1100" b="1" dirty="0"/>
              <a:t>Prototype Design</a:t>
            </a:r>
          </a:p>
          <a:p>
            <a:r>
              <a:rPr lang="en-US" sz="1100" dirty="0"/>
              <a:t>The prototype was designed as a modular, multi-agent workflow inside </a:t>
            </a:r>
            <a:r>
              <a:rPr lang="en-US" sz="1100" b="1" dirty="0"/>
              <a:t>n8n</a:t>
            </a:r>
            <a:r>
              <a:rPr lang="en-US" sz="1100" dirty="0"/>
              <a:t>, where each step of email processing is handled by a dedicated component.</a:t>
            </a:r>
            <a:br>
              <a:rPr lang="en-US" sz="1100" dirty="0"/>
            </a:br>
            <a:r>
              <a:rPr lang="en-US" sz="1100" dirty="0"/>
              <a:t>The design includes:</a:t>
            </a:r>
          </a:p>
          <a:p>
            <a:r>
              <a:rPr lang="en-US" sz="1100" b="1" dirty="0"/>
              <a:t>Intent Classifier Agent</a:t>
            </a:r>
            <a:r>
              <a:rPr lang="en-US" sz="1100" dirty="0"/>
              <a:t> to identify the type of request.</a:t>
            </a:r>
          </a:p>
          <a:p>
            <a:r>
              <a:rPr lang="en-US" sz="1100" b="1" dirty="0"/>
              <a:t>Entity Extractor Agent</a:t>
            </a:r>
            <a:r>
              <a:rPr lang="en-US" sz="1100" dirty="0"/>
              <a:t> to pull structured fields (dates, pet name, service type, location).</a:t>
            </a:r>
          </a:p>
          <a:p>
            <a:r>
              <a:rPr lang="en-US" sz="1100" b="1" dirty="0"/>
              <a:t>Guardrails &amp; Rule Checks</a:t>
            </a:r>
            <a:r>
              <a:rPr lang="en-US" sz="1100" dirty="0"/>
              <a:t> implemented using n8n code and switch nodes.</a:t>
            </a:r>
          </a:p>
          <a:p>
            <a:r>
              <a:rPr lang="en-US" sz="1100" b="1" dirty="0"/>
              <a:t>Intent-specific AI modules</a:t>
            </a:r>
            <a:r>
              <a:rPr lang="en-US" sz="1100" dirty="0"/>
              <a:t> for Boarding, Grooming, Daycare, Training, Pet Taxi, General, Unknown, and Cancellation.</a:t>
            </a:r>
          </a:p>
          <a:p>
            <a:r>
              <a:rPr lang="en-US" sz="1100" b="1" dirty="0"/>
              <a:t>Reply Writer Agent</a:t>
            </a:r>
            <a:r>
              <a:rPr lang="en-US" sz="1100" dirty="0"/>
              <a:t> to generate a friendly, brand-consistent draft response.</a:t>
            </a:r>
          </a:p>
          <a:p>
            <a:r>
              <a:rPr lang="en-US" sz="1100" b="1" dirty="0"/>
              <a:t>Human-in-the-Loop Draft Review</a:t>
            </a:r>
            <a:r>
              <a:rPr lang="en-US" sz="1100" dirty="0"/>
              <a:t> through Gmail labels and draft creation.</a:t>
            </a:r>
          </a:p>
          <a:p>
            <a:pPr marL="0" indent="0">
              <a:buNone/>
            </a:pPr>
            <a:r>
              <a:rPr lang="en-US" sz="1100" dirty="0"/>
              <a:t>The prototype replicates how staff handle emails manually, but automates the repetitive steps.</a:t>
            </a:r>
            <a:br>
              <a:rPr lang="en-US" sz="1100" dirty="0"/>
            </a:br>
            <a:endParaRPr lang="en-US" sz="1100" dirty="0"/>
          </a:p>
          <a:p>
            <a:pPr marL="0" indent="0">
              <a:buNone/>
            </a:pPr>
            <a:r>
              <a:rPr lang="en-US" sz="1100" b="1" dirty="0"/>
              <a:t>Implementation Environment</a:t>
            </a:r>
          </a:p>
          <a:p>
            <a:r>
              <a:rPr lang="en-US" sz="1100" dirty="0"/>
              <a:t>The full system is implemented in a safe, isolated, classroom-grade environment:</a:t>
            </a:r>
          </a:p>
          <a:p>
            <a:r>
              <a:rPr lang="en-US" sz="1100" b="1" dirty="0"/>
              <a:t>n8n Cloud Workspace</a:t>
            </a:r>
            <a:br>
              <a:rPr lang="en-US" sz="1100" dirty="0"/>
            </a:br>
            <a:r>
              <a:rPr lang="en-US" sz="1100" dirty="0"/>
              <a:t>Orchestrates all agents, logic, and routing in a visual workflow.</a:t>
            </a:r>
          </a:p>
          <a:p>
            <a:r>
              <a:rPr lang="en-US" sz="1100" b="1" dirty="0"/>
              <a:t>Gmail API</a:t>
            </a:r>
            <a:endParaRPr lang="en-US" sz="1100" dirty="0"/>
          </a:p>
          <a:p>
            <a:pPr lvl="1"/>
            <a:r>
              <a:rPr lang="en-US" dirty="0"/>
              <a:t>Detects new incoming emails</a:t>
            </a:r>
          </a:p>
          <a:p>
            <a:pPr lvl="1"/>
            <a:r>
              <a:rPr lang="en-US" dirty="0"/>
              <a:t>Retrieves message contents</a:t>
            </a:r>
          </a:p>
          <a:p>
            <a:pPr lvl="1"/>
            <a:r>
              <a:rPr lang="en-US" dirty="0"/>
              <a:t>Creates draft replies</a:t>
            </a:r>
          </a:p>
          <a:p>
            <a:pPr lvl="1"/>
            <a:r>
              <a:rPr lang="en-US" dirty="0"/>
              <a:t>Adds workflow labels for organization</a:t>
            </a:r>
            <a:br>
              <a:rPr lang="en-US" dirty="0"/>
            </a:br>
            <a:r>
              <a:rPr lang="en-US" dirty="0"/>
              <a:t>No live customer data is used—only test inboxes.</a:t>
            </a:r>
          </a:p>
          <a:p>
            <a:r>
              <a:rPr lang="en-US" sz="1100" b="1" dirty="0"/>
              <a:t>OpenAI Message Models</a:t>
            </a:r>
            <a:br>
              <a:rPr lang="en-US" sz="1100" dirty="0"/>
            </a:br>
            <a:r>
              <a:rPr lang="en-US" sz="1100" dirty="0"/>
              <a:t>Handle classification, extraction, and draft response generation using controlled prompts.</a:t>
            </a:r>
          </a:p>
          <a:p>
            <a:r>
              <a:rPr lang="en-US" sz="1100" b="1" dirty="0"/>
              <a:t>Synthetic Test Emails</a:t>
            </a:r>
            <a:br>
              <a:rPr lang="en-US" sz="1100" dirty="0"/>
            </a:br>
            <a:r>
              <a:rPr lang="en-US" sz="1100" dirty="0"/>
              <a:t>Used to evaluate accuracy and workflow performance without exposing real customer information.</a:t>
            </a:r>
          </a:p>
          <a:p>
            <a:r>
              <a:rPr lang="en-US" sz="1100" b="1" dirty="0"/>
              <a:t>Optional Google Sheet</a:t>
            </a:r>
            <a:br>
              <a:rPr lang="en-US" sz="1100" dirty="0"/>
            </a:br>
            <a:r>
              <a:rPr lang="en-US" sz="1100" dirty="0"/>
              <a:t>Utilized only for logging test results or storing evaluation metrics.</a:t>
            </a:r>
          </a:p>
          <a:p>
            <a:pPr marL="0" indent="0">
              <a:buNone/>
            </a:pPr>
            <a:r>
              <a:rPr lang="en-US" sz="1100" dirty="0"/>
              <a:t>The environment ensures </a:t>
            </a:r>
            <a:r>
              <a:rPr lang="en-US" sz="1100" b="1" dirty="0"/>
              <a:t>privacy, safety, and full instructor compliance</a:t>
            </a:r>
            <a:r>
              <a:rPr lang="en-US" sz="1100" dirty="0"/>
              <a:t>, while clearly demonstrating how </a:t>
            </a:r>
            <a:r>
              <a:rPr lang="en-US" sz="1100" dirty="0" err="1"/>
              <a:t>PlayStayTion</a:t>
            </a:r>
            <a:r>
              <a:rPr lang="en-US" sz="1100" dirty="0"/>
              <a:t> could extend this prototype into a production-ready email, voice, or chat assistant in the future.</a:t>
            </a:r>
          </a:p>
          <a:p>
            <a:pPr marL="0" indent="0">
              <a:buNone/>
            </a:pPr>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2247764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6D55-EA78-B530-6314-99FA9A159A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50605D0-D1FB-2AF6-A264-C8A123914473}"/>
              </a:ext>
            </a:extLst>
          </p:cNvPr>
          <p:cNvSpPr>
            <a:spLocks noGrp="1"/>
          </p:cNvSpPr>
          <p:nvPr>
            <p:ph type="ctrTitle"/>
          </p:nvPr>
        </p:nvSpPr>
        <p:spPr/>
        <p:txBody>
          <a:bodyPr/>
          <a:lstStyle/>
          <a:p>
            <a:r>
              <a:rPr lang="en-US" dirty="0"/>
              <a:t>SOLUTION IMPLEMENTATION</a:t>
            </a:r>
          </a:p>
        </p:txBody>
      </p:sp>
      <p:sp>
        <p:nvSpPr>
          <p:cNvPr id="4" name="Footer Placeholder 3">
            <a:extLst>
              <a:ext uri="{FF2B5EF4-FFF2-40B4-BE49-F238E27FC236}">
                <a16:creationId xmlns:a16="http://schemas.microsoft.com/office/drawing/2014/main" id="{2BA97386-AD45-7D1E-A56D-E84671E0C8B2}"/>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8455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04-423F-45AB-9D65-DE214A7E8B99}"/>
              </a:ext>
            </a:extLst>
          </p:cNvPr>
          <p:cNvSpPr>
            <a:spLocks noGrp="1"/>
          </p:cNvSpPr>
          <p:nvPr>
            <p:ph type="title"/>
          </p:nvPr>
        </p:nvSpPr>
        <p:spPr/>
        <p:txBody>
          <a:bodyPr>
            <a:normAutofit fontScale="90000"/>
          </a:bodyPr>
          <a:lstStyle/>
          <a:p>
            <a:r>
              <a:rPr lang="en-US" dirty="0"/>
              <a:t>Agentic Solution Implementation – Economic Feasibility of Implementing the proposed Agentic Solution</a:t>
            </a:r>
          </a:p>
        </p:txBody>
      </p:sp>
      <p:sp>
        <p:nvSpPr>
          <p:cNvPr id="3" name="Content Placeholder 2">
            <a:extLst>
              <a:ext uri="{FF2B5EF4-FFF2-40B4-BE49-F238E27FC236}">
                <a16:creationId xmlns:a16="http://schemas.microsoft.com/office/drawing/2014/main" id="{7BA2BEC8-FDDE-40D5-868F-5EC67A0FB16F}"/>
              </a:ext>
            </a:extLst>
          </p:cNvPr>
          <p:cNvSpPr>
            <a:spLocks noGrp="1"/>
          </p:cNvSpPr>
          <p:nvPr>
            <p:ph idx="1"/>
          </p:nvPr>
        </p:nvSpPr>
        <p:spPr/>
        <p:txBody>
          <a:bodyPr>
            <a:normAutofit/>
          </a:bodyPr>
          <a:lstStyle/>
          <a:p>
            <a:pPr marL="0" indent="0">
              <a:buNone/>
            </a:pPr>
            <a:r>
              <a:rPr lang="en-US" sz="1100" b="1" dirty="0"/>
              <a:t>Agentic Solution Implementation – Economic Feasibility</a:t>
            </a:r>
          </a:p>
          <a:p>
            <a:r>
              <a:rPr lang="en-US" sz="1100" b="1" dirty="0"/>
              <a:t>Low-Cost, Low-Risk Prototype</a:t>
            </a:r>
          </a:p>
          <a:p>
            <a:r>
              <a:rPr lang="en-US" sz="1100" dirty="0"/>
              <a:t>The proposed agentic email assistant is economically feasible because the entire system is built using </a:t>
            </a:r>
            <a:r>
              <a:rPr lang="en-US" sz="1100" b="1" dirty="0"/>
              <a:t>low-cost or free-tier tools</a:t>
            </a:r>
            <a:r>
              <a:rPr lang="en-US" sz="1100" dirty="0"/>
              <a:t>. The prototype requires no hardware purchases, no system integrations, and no changes to </a:t>
            </a:r>
            <a:r>
              <a:rPr lang="en-US" sz="1100" dirty="0" err="1"/>
              <a:t>PlayStayTion’s</a:t>
            </a:r>
            <a:r>
              <a:rPr lang="en-US" sz="1100" dirty="0"/>
              <a:t> existing operations.</a:t>
            </a:r>
            <a:br>
              <a:rPr lang="en-US" sz="1100" dirty="0"/>
            </a:br>
            <a:endParaRPr lang="en-US" sz="1100" dirty="0"/>
          </a:p>
          <a:p>
            <a:pPr marL="0" indent="0">
              <a:buNone/>
            </a:pPr>
            <a:r>
              <a:rPr lang="en-US" sz="1100" b="1" dirty="0"/>
              <a:t>Estimated Costs for Real-World Use</a:t>
            </a:r>
          </a:p>
          <a:p>
            <a:r>
              <a:rPr lang="en-US" sz="1100" b="1" dirty="0"/>
              <a:t>1. n8n Platform</a:t>
            </a:r>
          </a:p>
          <a:p>
            <a:r>
              <a:rPr lang="en-US" sz="1100" b="1" dirty="0"/>
              <a:t>n8n Cloud (Starter Plan):</a:t>
            </a:r>
            <a:r>
              <a:rPr lang="en-US" sz="1100" dirty="0"/>
              <a:t> ~$20–$30 per month</a:t>
            </a:r>
            <a:br>
              <a:rPr lang="en-US" sz="1100" dirty="0"/>
            </a:br>
            <a:r>
              <a:rPr lang="en-US" sz="1100" dirty="0"/>
              <a:t>(Alternatively, can be self-hosted at near-zero cost.)</a:t>
            </a:r>
          </a:p>
          <a:p>
            <a:r>
              <a:rPr lang="en-US" sz="1100" b="1" dirty="0"/>
              <a:t>2. OpenAI API Usage</a:t>
            </a:r>
          </a:p>
          <a:p>
            <a:r>
              <a:rPr lang="en-US" sz="1100" dirty="0"/>
              <a:t>Average cost per email: </a:t>
            </a:r>
            <a:r>
              <a:rPr lang="en-US" sz="1100" b="1" dirty="0"/>
              <a:t>$0.002–$0.01</a:t>
            </a:r>
            <a:r>
              <a:rPr lang="en-US" sz="1100" dirty="0"/>
              <a:t>, depending on prompt size.</a:t>
            </a:r>
          </a:p>
          <a:p>
            <a:r>
              <a:rPr lang="en-US" sz="1100" dirty="0"/>
              <a:t>Monthly expected usage (300–600 emails): </a:t>
            </a:r>
            <a:r>
              <a:rPr lang="en-US" sz="1100" b="1" dirty="0"/>
              <a:t>$3–$10 per month</a:t>
            </a:r>
            <a:r>
              <a:rPr lang="en-US" sz="1100" dirty="0"/>
              <a:t>.</a:t>
            </a:r>
          </a:p>
          <a:p>
            <a:r>
              <a:rPr lang="en-US" sz="1100" b="1" dirty="0"/>
              <a:t>3. Gmail API</a:t>
            </a:r>
          </a:p>
          <a:p>
            <a:r>
              <a:rPr lang="en-US" sz="1100" dirty="0"/>
              <a:t>Included with existing Google Workspace—</a:t>
            </a:r>
            <a:r>
              <a:rPr lang="en-US" sz="1100" b="1" dirty="0"/>
              <a:t>no additional cost</a:t>
            </a:r>
            <a:r>
              <a:rPr lang="en-US" sz="1100" dirty="0"/>
              <a:t>.</a:t>
            </a:r>
          </a:p>
          <a:p>
            <a:r>
              <a:rPr lang="en-US" sz="1100" b="1" dirty="0"/>
              <a:t>4. Setup &amp; Maintenance</a:t>
            </a:r>
          </a:p>
          <a:p>
            <a:r>
              <a:rPr lang="en-US" sz="1100" dirty="0"/>
              <a:t>Initial setup (one-time):</a:t>
            </a:r>
            <a:br>
              <a:rPr lang="en-US" sz="1100" dirty="0"/>
            </a:br>
            <a:r>
              <a:rPr lang="en-US" sz="1100" dirty="0"/>
              <a:t>10–20 hours of configuration, prompt tuning, and testing.</a:t>
            </a:r>
          </a:p>
          <a:p>
            <a:r>
              <a:rPr lang="en-US" sz="1100" dirty="0"/>
              <a:t>Ongoing maintenance:</a:t>
            </a:r>
            <a:br>
              <a:rPr lang="en-US" sz="1100" dirty="0"/>
            </a:br>
            <a:r>
              <a:rPr lang="en-US" sz="1100" dirty="0"/>
              <a:t>~1–2 hours per month to update prompts or adjust rules.</a:t>
            </a:r>
            <a:br>
              <a:rPr lang="en-US" sz="1100" dirty="0"/>
            </a:br>
            <a:endParaRPr lang="en-US" sz="1100" dirty="0"/>
          </a:p>
          <a:p>
            <a:pPr marL="0" indent="0">
              <a:buNone/>
            </a:pPr>
            <a:r>
              <a:rPr lang="en-US" sz="1100" b="1" dirty="0"/>
              <a:t>Operational Benefits (Cost Savings)</a:t>
            </a:r>
          </a:p>
          <a:p>
            <a:r>
              <a:rPr lang="en-US" sz="1100" dirty="0"/>
              <a:t>Adopting this agentic solution can reduce staff workload and administrative time significantly:</a:t>
            </a:r>
          </a:p>
          <a:p>
            <a:r>
              <a:rPr lang="en-US" sz="1100" b="1" dirty="0"/>
              <a:t>40–60% reduction</a:t>
            </a:r>
            <a:r>
              <a:rPr lang="en-US" sz="1100" dirty="0"/>
              <a:t> in time spent reading, interpreting, and drafting responses to routine emails.</a:t>
            </a:r>
          </a:p>
          <a:p>
            <a:r>
              <a:rPr lang="en-US" sz="1100" dirty="0"/>
              <a:t>Faster customer replies increase </a:t>
            </a:r>
            <a:r>
              <a:rPr lang="en-US" sz="1100" b="1" dirty="0"/>
              <a:t>conversion to bookings</a:t>
            </a:r>
            <a:r>
              <a:rPr lang="en-US" sz="1100" dirty="0"/>
              <a:t>, especially during peak seasons.</a:t>
            </a:r>
          </a:p>
          <a:p>
            <a:r>
              <a:rPr lang="en-US" sz="1100" dirty="0"/>
              <a:t>Staff can reallocate time to higher-value tasks such as customer service, on-site care, and complex inquiries.</a:t>
            </a:r>
            <a:br>
              <a:rPr lang="en-US" sz="1100" dirty="0"/>
            </a:br>
            <a:endParaRPr lang="en-US" sz="1100" dirty="0"/>
          </a:p>
          <a:p>
            <a:pPr marL="0" indent="0">
              <a:buNone/>
            </a:pPr>
            <a:r>
              <a:rPr lang="en-US" sz="1100" b="1" dirty="0"/>
              <a:t>Summary of Economic Feasibility</a:t>
            </a:r>
          </a:p>
          <a:p>
            <a:r>
              <a:rPr lang="en-US" sz="1100" dirty="0"/>
              <a:t>Total expected cost of running the system monthly: </a:t>
            </a:r>
            <a:r>
              <a:rPr lang="en-US" sz="1100" b="1" dirty="0"/>
              <a:t>$25–$40</a:t>
            </a:r>
            <a:endParaRPr lang="en-US" sz="1100" dirty="0"/>
          </a:p>
          <a:p>
            <a:r>
              <a:rPr lang="en-US" sz="1100" dirty="0"/>
              <a:t>Total estimated monthly labor savings: </a:t>
            </a:r>
            <a:r>
              <a:rPr lang="en-US" sz="1100" b="1" dirty="0"/>
              <a:t>10–20+ hours</a:t>
            </a:r>
            <a:endParaRPr lang="en-US" sz="1100" dirty="0"/>
          </a:p>
          <a:p>
            <a:r>
              <a:rPr lang="en-US" sz="1100" dirty="0"/>
              <a:t>Net cost savings: </a:t>
            </a:r>
            <a:r>
              <a:rPr lang="en-US" sz="1100" b="1" dirty="0"/>
              <a:t>Clear positive ROI</a:t>
            </a:r>
            <a:r>
              <a:rPr lang="en-US" sz="1100" dirty="0"/>
              <a:t>, even at low volumes</a:t>
            </a:r>
          </a:p>
          <a:p>
            <a:r>
              <a:rPr lang="en-US" sz="1100" dirty="0"/>
              <a:t>Scalable for future voice or chat assistants without major additional investment</a:t>
            </a:r>
          </a:p>
          <a:p>
            <a:r>
              <a:rPr lang="en-US" sz="1100" dirty="0"/>
              <a:t>The solution is economically viable, low-risk, and highly scalable, making it an attractive first step toward automating </a:t>
            </a:r>
            <a:r>
              <a:rPr lang="en-US" sz="1100" dirty="0" err="1"/>
              <a:t>PlayStayTion’s</a:t>
            </a:r>
            <a:r>
              <a:rPr lang="en-US" sz="1100" dirty="0"/>
              <a:t> communication ecosystem.</a:t>
            </a:r>
          </a:p>
          <a:p>
            <a:pPr marL="0" indent="0">
              <a:buNone/>
            </a:pPr>
            <a:endParaRPr lang="en-US" dirty="0"/>
          </a:p>
        </p:txBody>
      </p:sp>
      <p:sp>
        <p:nvSpPr>
          <p:cNvPr id="4" name="Footer Placeholder 3">
            <a:extLst>
              <a:ext uri="{FF2B5EF4-FFF2-40B4-BE49-F238E27FC236}">
                <a16:creationId xmlns:a16="http://schemas.microsoft.com/office/drawing/2014/main" id="{A2EFC90E-9C72-415A-81E2-B3B8F319F0C0}"/>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2103478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E3FA8-ADF6-246F-093D-7604D354F9D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3D5B8E7-6C04-9803-113F-A6AD95457FC1}"/>
              </a:ext>
            </a:extLst>
          </p:cNvPr>
          <p:cNvSpPr>
            <a:spLocks noGrp="1"/>
          </p:cNvSpPr>
          <p:nvPr>
            <p:ph idx="1"/>
          </p:nvPr>
        </p:nvSpPr>
        <p:spPr>
          <a:xfrm>
            <a:off x="255415" y="800100"/>
            <a:ext cx="6333827" cy="7039356"/>
          </a:xfrm>
        </p:spPr>
        <p:txBody>
          <a:bodyPr>
            <a:normAutofit/>
          </a:bodyPr>
          <a:lstStyle/>
          <a:p>
            <a:pPr marL="337102" lvl="1" indent="-228600">
              <a:buFont typeface="+mj-lt"/>
              <a:buAutoNum type="arabicPeriod"/>
            </a:pPr>
            <a:r>
              <a:rPr lang="it-IT" dirty="0"/>
              <a:t>OpenAI. (2024). </a:t>
            </a:r>
            <a:r>
              <a:rPr lang="it-IT" i="1" dirty="0"/>
              <a:t>OpenAI API Documentation</a:t>
            </a:r>
            <a:r>
              <a:rPr lang="it-IT" dirty="0"/>
              <a:t>. </a:t>
            </a:r>
            <a:r>
              <a:rPr lang="it-IT" dirty="0">
                <a:hlinkClick r:id="rId2"/>
              </a:rPr>
              <a:t>https://platform.openai.com/docs </a:t>
            </a:r>
            <a:endParaRPr lang="it-IT" dirty="0"/>
          </a:p>
          <a:p>
            <a:pPr marL="337102" lvl="1" indent="-228600">
              <a:buFont typeface="+mj-lt"/>
              <a:buAutoNum type="arabicPeriod"/>
            </a:pPr>
            <a:r>
              <a:rPr lang="pt-BR" dirty="0"/>
              <a:t>n8n GmbH. (2024). </a:t>
            </a:r>
            <a:r>
              <a:rPr lang="pt-BR" i="1" dirty="0"/>
              <a:t>n8n Workflow Automation Documentation</a:t>
            </a:r>
            <a:r>
              <a:rPr lang="pt-BR" dirty="0"/>
              <a:t>. </a:t>
            </a:r>
            <a:r>
              <a:rPr lang="pt-BR" dirty="0">
                <a:hlinkClick r:id="rId3"/>
              </a:rPr>
              <a:t>https://docs.n8n.io</a:t>
            </a:r>
            <a:endParaRPr lang="pt-BR" dirty="0"/>
          </a:p>
          <a:p>
            <a:pPr marL="337102" lvl="1" indent="-228600">
              <a:buFont typeface="+mj-lt"/>
              <a:buAutoNum type="arabicPeriod"/>
            </a:pPr>
            <a:r>
              <a:rPr lang="en-US" dirty="0"/>
              <a:t>Google Developers. (2024). </a:t>
            </a:r>
            <a:r>
              <a:rPr lang="en-US" i="1" dirty="0"/>
              <a:t>Gmail API Reference</a:t>
            </a:r>
            <a:r>
              <a:rPr lang="en-US" dirty="0"/>
              <a:t>. </a:t>
            </a:r>
            <a:r>
              <a:rPr lang="en-US" dirty="0">
                <a:hlinkClick r:id="rId4"/>
              </a:rPr>
              <a:t>https://developers.google.com/gmail/api</a:t>
            </a:r>
            <a:endParaRPr lang="en-US" dirty="0"/>
          </a:p>
          <a:p>
            <a:pPr marL="337102" lvl="1" indent="-228600">
              <a:buFont typeface="+mj-lt"/>
              <a:buAutoNum type="arabicPeriod"/>
            </a:pPr>
            <a:r>
              <a:rPr lang="en-US" dirty="0"/>
              <a:t>Sidorova, A. (2025). </a:t>
            </a:r>
            <a:r>
              <a:rPr lang="en-US" i="1" dirty="0"/>
              <a:t>BCIS 5140 – Agentic AI Lecture Notes</a:t>
            </a:r>
            <a:r>
              <a:rPr lang="en-US" dirty="0"/>
              <a:t> (Course materials provided in class)</a:t>
            </a:r>
          </a:p>
          <a:p>
            <a:pPr marL="337102" lvl="1" indent="-228600">
              <a:buFont typeface="+mj-lt"/>
              <a:buAutoNum type="arabicPeriod"/>
            </a:pPr>
            <a:r>
              <a:rPr lang="en-US" dirty="0" err="1"/>
              <a:t>PlayStayTion</a:t>
            </a:r>
            <a:r>
              <a:rPr lang="en-US" dirty="0"/>
              <a:t> Pet Resort. (2024). </a:t>
            </a:r>
            <a:r>
              <a:rPr lang="en-US" i="1" dirty="0"/>
              <a:t>Official Website</a:t>
            </a:r>
            <a:r>
              <a:rPr lang="en-US" dirty="0"/>
              <a:t>. </a:t>
            </a:r>
            <a:r>
              <a:rPr lang="en-US" dirty="0">
                <a:hlinkClick r:id="rId5"/>
              </a:rPr>
              <a:t>https://playstaytionpetresort.com</a:t>
            </a:r>
            <a:endParaRPr lang="en-US" dirty="0"/>
          </a:p>
          <a:p>
            <a:pPr marL="337102" lvl="1" indent="-228600">
              <a:buFont typeface="+mj-lt"/>
              <a:buAutoNum type="arabicPeriod"/>
            </a:pPr>
            <a:r>
              <a:rPr lang="en-US" dirty="0"/>
              <a:t>Miro. (2024). </a:t>
            </a:r>
            <a:r>
              <a:rPr lang="en-US" i="1" dirty="0"/>
              <a:t>Diagramming and Workflow Mapping Tool</a:t>
            </a:r>
            <a:r>
              <a:rPr lang="en-US" dirty="0"/>
              <a:t>. </a:t>
            </a:r>
            <a:r>
              <a:rPr lang="en-US" dirty="0">
                <a:hlinkClick r:id="rId6"/>
              </a:rPr>
              <a:t>https://miro.com</a:t>
            </a:r>
            <a:endParaRPr lang="en-US" dirty="0"/>
          </a:p>
          <a:p>
            <a:pPr marL="337102" lvl="1" indent="-228600">
              <a:buFont typeface="+mj-lt"/>
              <a:buAutoNum type="arabicPeriod"/>
            </a:pPr>
            <a:r>
              <a:rPr lang="en-US" dirty="0"/>
              <a:t>Microsoft. (2024). </a:t>
            </a:r>
            <a:r>
              <a:rPr lang="en-US" i="1" dirty="0"/>
              <a:t>PowerPoint – Slide Design Guidelines</a:t>
            </a:r>
            <a:r>
              <a:rPr lang="en-US" dirty="0"/>
              <a:t>.</a:t>
            </a:r>
          </a:p>
          <a:p>
            <a:pPr marL="337102" lvl="1" indent="-228600">
              <a:buFont typeface="+mj-lt"/>
              <a:buAutoNum type="arabicPeriod"/>
            </a:pPr>
            <a:r>
              <a:rPr lang="en-US" dirty="0"/>
              <a:t>GitHub. (2024). </a:t>
            </a:r>
            <a:r>
              <a:rPr lang="en-US" i="1" dirty="0"/>
              <a:t>n8n Community Workflows and Integrations</a:t>
            </a:r>
            <a:r>
              <a:rPr lang="en-US" dirty="0"/>
              <a:t>. </a:t>
            </a:r>
            <a:r>
              <a:rPr lang="en-US" dirty="0">
                <a:hlinkClick r:id="rId7"/>
              </a:rPr>
              <a:t>https://github.com/n8n-io</a:t>
            </a:r>
            <a:endParaRPr lang="en-US" dirty="0"/>
          </a:p>
          <a:p>
            <a:pPr marL="337102" lvl="1" indent="-228600">
              <a:buFont typeface="+mj-lt"/>
              <a:buAutoNum type="arabicPeriod"/>
            </a:pPr>
            <a:r>
              <a:rPr lang="en-US" dirty="0"/>
              <a:t>OpenAI. (2024). </a:t>
            </a:r>
            <a:r>
              <a:rPr lang="en-US" i="1" dirty="0"/>
              <a:t>Prompt Engineering Guide</a:t>
            </a:r>
            <a:r>
              <a:rPr lang="en-US" dirty="0"/>
              <a:t>. </a:t>
            </a:r>
            <a:r>
              <a:rPr lang="en-US" dirty="0">
                <a:hlinkClick r:id="rId8"/>
              </a:rPr>
              <a:t>https://platform.openai.com/docs/guides/prompt-engineering</a:t>
            </a:r>
            <a:endParaRPr lang="en-US" dirty="0"/>
          </a:p>
          <a:p>
            <a:pPr marL="337102" lvl="1" indent="-228600">
              <a:buFont typeface="+mj-lt"/>
              <a:buAutoNum type="arabicPeriod"/>
            </a:pPr>
            <a:r>
              <a:rPr lang="en-US" dirty="0"/>
              <a:t>Google Workspace. (2024). </a:t>
            </a:r>
            <a:r>
              <a:rPr lang="en-US" i="1" dirty="0"/>
              <a:t>Email Automation and Security Policies</a:t>
            </a:r>
            <a:r>
              <a:rPr lang="en-US" dirty="0"/>
              <a:t>.</a:t>
            </a:r>
          </a:p>
          <a:p>
            <a:pPr marL="337102" lvl="1" indent="-228600">
              <a:buFont typeface="+mj-lt"/>
              <a:buAutoNum type="arabicPeriod"/>
            </a:pPr>
            <a:endParaRPr lang="en-US" dirty="0"/>
          </a:p>
          <a:p>
            <a:pPr marL="337102" lvl="1" indent="-228600">
              <a:buFont typeface="+mj-lt"/>
              <a:buAutoNum type="arabicPeriod"/>
            </a:pPr>
            <a:endParaRPr lang="en-US" b="0" i="0" dirty="0">
              <a:effectLst/>
              <a:latin typeface="Lato Extended"/>
            </a:endParaRPr>
          </a:p>
        </p:txBody>
      </p:sp>
      <p:sp>
        <p:nvSpPr>
          <p:cNvPr id="4" name="Footer Placeholder 3">
            <a:extLst>
              <a:ext uri="{FF2B5EF4-FFF2-40B4-BE49-F238E27FC236}">
                <a16:creationId xmlns:a16="http://schemas.microsoft.com/office/drawing/2014/main" id="{2D4E5F3A-992F-82B7-943F-8EA6EE561579}"/>
              </a:ext>
            </a:extLst>
          </p:cNvPr>
          <p:cNvSpPr>
            <a:spLocks noGrp="1"/>
          </p:cNvSpPr>
          <p:nvPr>
            <p:ph type="ftr" sz="quarter" idx="11"/>
          </p:nvPr>
        </p:nvSpPr>
        <p:spPr/>
        <p:txBody>
          <a:bodyPr/>
          <a:lstStyle/>
          <a:p>
            <a:r>
              <a:rPr lang="sv-SE"/>
              <a:t>© 2025, Anna Sidorova, UNT. BCIS5140 - Project Report Boilerplate</a:t>
            </a:r>
            <a:endParaRPr lang="en-US" dirty="0"/>
          </a:p>
        </p:txBody>
      </p:sp>
    </p:spTree>
    <p:extLst>
      <p:ext uri="{BB962C8B-B14F-4D97-AF65-F5344CB8AC3E}">
        <p14:creationId xmlns:p14="http://schemas.microsoft.com/office/powerpoint/2010/main" val="967553441"/>
      </p:ext>
    </p:extLst>
  </p:cSld>
  <p:clrMapOvr>
    <a:masterClrMapping/>
  </p:clrMapOvr>
</p:sld>
</file>

<file path=ppt/theme/theme1.xml><?xml version="1.0" encoding="utf-8"?>
<a:theme xmlns:a="http://schemas.openxmlformats.org/drawingml/2006/main" name="myUNT">
  <a:themeElements>
    <a:clrScheme name="UNT">
      <a:dk1>
        <a:sysClr val="windowText" lastClr="000000"/>
      </a:dk1>
      <a:lt1>
        <a:sysClr val="window" lastClr="FFFFFF"/>
      </a:lt1>
      <a:dk2>
        <a:srgbClr val="000000"/>
      </a:dk2>
      <a:lt2>
        <a:srgbClr val="FFFFFF"/>
      </a:lt2>
      <a:accent1>
        <a:srgbClr val="84B1CD"/>
      </a:accent1>
      <a:accent2>
        <a:srgbClr val="887A68"/>
      </a:accent2>
      <a:accent3>
        <a:srgbClr val="E5DBAE"/>
      </a:accent3>
      <a:accent4>
        <a:srgbClr val="008265"/>
      </a:accent4>
      <a:accent5>
        <a:srgbClr val="C0DB37"/>
      </a:accent5>
      <a:accent6>
        <a:srgbClr val="BFBFBF"/>
      </a:accent6>
      <a:hlink>
        <a:srgbClr val="00853E"/>
      </a:hlink>
      <a:folHlink>
        <a:srgbClr val="72B83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UNT" id="{477628C2-D483-46A5-9DE6-FA842B43C7C9}" vid="{BBEA9233-AD16-431E-916F-63C990F5A9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emplate>myUNT</Template>
  <TotalTime>2471</TotalTime>
  <Words>5183</Words>
  <Application>Microsoft Office PowerPoint</Application>
  <PresentationFormat>Letter Paper (8.5x11 in)</PresentationFormat>
  <Paragraphs>359</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Lato Extended</vt:lpstr>
      <vt:lpstr>myUNT</vt:lpstr>
      <vt:lpstr>WoofFlow:  From Email to Entry  </vt:lpstr>
      <vt:lpstr>Executive Summary</vt:lpstr>
      <vt:lpstr>PROJECT OVERVIEW</vt:lpstr>
      <vt:lpstr>Our Understanding of your Business Needs</vt:lpstr>
      <vt:lpstr>Project Goal and Outcomes</vt:lpstr>
      <vt:lpstr>Project Scope, Constraints and Assumptions</vt:lpstr>
      <vt:lpstr>PROJECT APPROACH</vt:lpstr>
      <vt:lpstr>Project Approach</vt:lpstr>
      <vt:lpstr>Project Approach cont’d</vt:lpstr>
      <vt:lpstr>SOLUTION REQUIREMENTS</vt:lpstr>
      <vt:lpstr>Project Stakeholders</vt:lpstr>
      <vt:lpstr>Business requirements – Stakeholder analysis</vt:lpstr>
      <vt:lpstr>SOLUTION DESIGN</vt:lpstr>
      <vt:lpstr>Business requirements – Agentic Solution Environment and Objectives</vt:lpstr>
      <vt:lpstr>Agentic Solution Design – Architecture</vt:lpstr>
      <vt:lpstr>Agentic Solution Design – Data Access and Grounding</vt:lpstr>
      <vt:lpstr>Agentic Solution Design – Actions and Tools</vt:lpstr>
      <vt:lpstr>Agentic Solution Design – Prototype Design and Implementation Environment</vt:lpstr>
      <vt:lpstr>SOLUTION IMPLEMENTATION</vt:lpstr>
      <vt:lpstr>Agentic Solution Implementation – Economic Feasibility of Implementing the proposed Agentic Solution</vt:lpstr>
      <vt:lpstr>References</vt:lpstr>
    </vt:vector>
  </TitlesOfParts>
  <Company>University of North Texas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Brief History of Data Mining</dc:title>
  <dc:creator>Torres, Russell</dc:creator>
  <cp:lastModifiedBy>Ravula, Achyutha</cp:lastModifiedBy>
  <cp:revision>606</cp:revision>
  <dcterms:created xsi:type="dcterms:W3CDTF">2017-09-27T20:35:47Z</dcterms:created>
  <dcterms:modified xsi:type="dcterms:W3CDTF">2026-01-17T01:00:15Z</dcterms:modified>
</cp:coreProperties>
</file>